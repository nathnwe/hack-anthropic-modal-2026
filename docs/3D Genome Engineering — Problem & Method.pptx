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which enhancer a gene can hear depends on 3D folding, not just genomic distance. The tangled grey fiber is chromatin itself — DNA wound around histones (nucleosomes) — and the arrows mark a pair of convergent CTCF binding sites, the "stop signs" that halt cohesin loop extrusion and define this TAD boundary. Because the enhancer sits on the far side of that boundary, it never reaches the gene, so the gene stays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chromatin is organised into TADs — self-interacting loops formed by cohesin extruding DNA until it hits a pair of convergent CTCF sites, which act as a "stop sign" for loop extrusion (right). An inactive TAD (left) can carry a poised gene held silent by Polycomb; an active TAD (right) carries actively transcribed genes and can itself contain a nested sub-TAD, a smaller loop formed by Mediator/cohesin that brings an enhancer and promoter together within the larger domain. The boundary between TADs is not a fixed wall — it is enforced by specific, addressable protein components (CTCF, cohesin), which is exactly what our engineered staple has to either work around or cross to link two loci that the cell currently keeps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score every candidate enhancer by predicted benefit to the target gene minus predicted disruption to its neighbours, then use a programmable dCas staple to force the winning loop across the CTCF boundary that was previously blocking it. A drug-inducible switch on the staple makes the loop, and the expression change, reversible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prediction step: a convolutional model trained on real Hi-C or Micro-C contact maps learns to predict a genome's 3D contact probabilities directly from its DNA sequence. The scoring loop on the right shows how that turns into target discovery: for each candidate locus, predict how the sequence edit changes contact probability versus the reference, score the change as benefit (gain to the target gene) minus disruption (unwanted changes elsewhere), rank all candidate loci by that score, then advance to the next locus — repeating this loop genome-wide turns a single-locus prediction into a ranked target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mechanistically distinct ways to force two genomic loci into 3D contact, from CRISPR-based stapling to a permanent, nuclease-driven fusion used to model cancer translocations. The reversible ones are the realistic candidates for a drug-controlled genome-engineering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distinct ways to make a staple reversible: two act on the staple's dimerization directly (a small molecule or light), one removes the anchoring protein rather than the staple, and one is an alternative chemistry for teams already using a rapamycin-based system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5482A"/>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p:nvPr/>
        </p:nvSpPr>
        <p:spPr>
          <a:xfrm>
            <a:off x="812800" y="1043930"/>
            <a:ext cx="10883392" cy="9398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A2332"/>
                </a:solidFill>
                <a:latin typeface="Space Grotesk" pitchFamily="34" charset="0"/>
                <a:ea typeface="Space Grotesk" pitchFamily="34" charset="-122"/>
                <a:cs typeface="Space Grotesk" pitchFamily="34" charset="-120"/>
              </a:rPr>
              <a:t>A gene only responds to the enhancers it physically touches in 3D — not the ones nearest on the map</a:t>
            </a:r>
            <a:endParaRPr lang="en-US" sz="3000" dirty="0"/>
          </a:p>
        </p:txBody>
      </p:sp>
      <p:pic>
        <p:nvPicPr>
          <p:cNvPr id="4" name="Image 0" descr="Chromatin fiber: DNA wound around histones, forming a long S-curve of enlarged nucleosome beads">    </p:cNvPr>
          <p:cNvPicPr>
            <a:picLocks noChangeAspect="1"/>
          </p:cNvPicPr>
          <p:nvPr/>
        </p:nvPicPr>
        <p:blipFill>
          <a:blip r:embed="rId1"/>
          <a:srcRect l="-33" r="-33" t="0" b="0"/>
          <a:stretch/>
        </p:blipFill>
        <p:spPr>
          <a:xfrm>
            <a:off x="812800" y="2693640"/>
            <a:ext cx="10566400" cy="2413000"/>
          </a:xfrm>
          <a:prstGeom prst="rect">
            <a:avLst/>
          </a:prstGeom>
        </p:spPr>
      </p:pic>
      <p:sp>
        <p:nvSpPr>
          <p:cNvPr id="5" name="Shape 2"/>
          <p:cNvSpPr/>
          <p:nvPr/>
        </p:nvSpPr>
        <p:spPr>
          <a:xfrm>
            <a:off x="6096000" y="2693640"/>
            <a:ext cx="12700" cy="2413000"/>
          </a:xfrm>
          <a:prstGeom prst="rect">
            <a:avLst/>
          </a:prstGeom>
          <a:solidFill>
            <a:srgbClr val="E4DED0"/>
          </a:solidFill>
          <a:ln/>
        </p:spPr>
      </p:sp>
      <p:pic>
        <p:nvPicPr>
          <p:cNvPr id="6" name="Image 1" descr="Two large convergent triangular arrowheads marking the CTCF binding sites at the TAD boundary">    </p:cNvPr>
          <p:cNvPicPr>
            <a:picLocks noChangeAspect="1"/>
          </p:cNvPicPr>
          <p:nvPr/>
        </p:nvPicPr>
        <p:blipFill>
          <a:blip r:embed="rId2"/>
          <a:srcRect l="-33" r="-33" t="0" b="0"/>
          <a:stretch/>
        </p:blipFill>
        <p:spPr>
          <a:xfrm>
            <a:off x="812800" y="2693640"/>
            <a:ext cx="10566400" cy="2413000"/>
          </a:xfrm>
          <a:prstGeom prst="rect">
            <a:avLst/>
          </a:prstGeom>
        </p:spPr>
      </p:pic>
      <p:sp>
        <p:nvSpPr>
          <p:cNvPr id="7" name="Text 3"/>
          <p:cNvSpPr/>
          <p:nvPr/>
        </p:nvSpPr>
        <p:spPr>
          <a:xfrm>
            <a:off x="4844034" y="3233390"/>
            <a:ext cx="2249932"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B5482A"/>
                </a:solidFill>
                <a:latin typeface="IBM Plex Sans" pitchFamily="34" charset="0"/>
                <a:ea typeface="IBM Plex Sans" pitchFamily="34" charset="-122"/>
                <a:cs typeface="IBM Plex Sans" pitchFamily="34" charset="-120"/>
              </a:rPr>
              <a:t>Convergent CTCF sites block the loop</a:t>
            </a:r>
            <a:endParaRPr lang="en-US" sz="1000" dirty="0"/>
          </a:p>
        </p:txBody>
      </p:sp>
      <p:sp>
        <p:nvSpPr>
          <p:cNvPr id="8" name="Shape 4"/>
          <p:cNvSpPr/>
          <p:nvPr/>
        </p:nvSpPr>
        <p:spPr>
          <a:xfrm>
            <a:off x="1022350" y="4439890"/>
            <a:ext cx="1384300" cy="431800"/>
          </a:xfrm>
          <a:prstGeom prst="roundRect">
            <a:avLst>
              <a:gd name="adj" fmla="val 16176"/>
            </a:avLst>
          </a:prstGeom>
          <a:solidFill>
            <a:srgbClr val="E4DED0"/>
          </a:solidFill>
          <a:ln w="12700">
            <a:solidFill>
              <a:srgbClr val="A89F88"/>
            </a:solidFill>
            <a:prstDash val="solid"/>
          </a:ln>
        </p:spPr>
      </p:sp>
      <p:sp>
        <p:nvSpPr>
          <p:cNvPr id="9" name="Text 5"/>
          <p:cNvSpPr/>
          <p:nvPr/>
        </p:nvSpPr>
        <p:spPr>
          <a:xfrm>
            <a:off x="1352848" y="4540200"/>
            <a:ext cx="77405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332"/>
                </a:solidFill>
                <a:latin typeface="IBM Plex Sans" pitchFamily="34" charset="0"/>
                <a:ea typeface="IBM Plex Sans" pitchFamily="34" charset="-122"/>
                <a:cs typeface="IBM Plex Sans" pitchFamily="34" charset="-120"/>
              </a:rPr>
              <a:t>Enhancer</a:t>
            </a:r>
            <a:endParaRPr lang="en-US" sz="1300" dirty="0"/>
          </a:p>
        </p:txBody>
      </p:sp>
      <p:sp>
        <p:nvSpPr>
          <p:cNvPr id="10" name="Shape 6"/>
          <p:cNvSpPr/>
          <p:nvPr/>
        </p:nvSpPr>
        <p:spPr>
          <a:xfrm>
            <a:off x="9855200" y="2884140"/>
            <a:ext cx="1397000" cy="444500"/>
          </a:xfrm>
          <a:prstGeom prst="roundRect">
            <a:avLst>
              <a:gd name="adj" fmla="val 17143"/>
            </a:avLst>
          </a:prstGeom>
          <a:solidFill>
            <a:srgbClr val="1A2332"/>
          </a:solidFill>
          <a:ln/>
        </p:spPr>
      </p:sp>
      <p:sp>
        <p:nvSpPr>
          <p:cNvPr id="11" name="Text 7"/>
          <p:cNvSpPr/>
          <p:nvPr/>
        </p:nvSpPr>
        <p:spPr>
          <a:xfrm>
            <a:off x="10048726" y="2990800"/>
            <a:ext cx="106069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FBF8"/>
                </a:solidFill>
                <a:latin typeface="IBM Plex Sans" pitchFamily="34" charset="0"/>
                <a:ea typeface="IBM Plex Sans" pitchFamily="34" charset="-122"/>
                <a:cs typeface="IBM Plex Sans" pitchFamily="34" charset="-120"/>
              </a:rPr>
              <a:t>Disease gene</a:t>
            </a:r>
            <a:endParaRPr lang="en-US" sz="1300" dirty="0"/>
          </a:p>
        </p:txBody>
      </p:sp>
      <p:pic>
        <p:nvPicPr>
          <p:cNvPr id="12" name="Image 2" descr="Dashed arc showing no physical contact between the enhancer and the gene">    </p:cNvPr>
          <p:cNvPicPr>
            <a:picLocks noChangeAspect="1"/>
          </p:cNvPicPr>
          <p:nvPr/>
        </p:nvPicPr>
        <p:blipFill>
          <a:blip r:embed="rId3"/>
          <a:srcRect l="-33" r="-33" t="0" b="0"/>
          <a:stretch/>
        </p:blipFill>
        <p:spPr>
          <a:xfrm>
            <a:off x="812800" y="2693640"/>
            <a:ext cx="10566400" cy="2413000"/>
          </a:xfrm>
          <a:prstGeom prst="rect">
            <a:avLst/>
          </a:prstGeom>
        </p:spPr>
      </p:pic>
      <p:sp>
        <p:nvSpPr>
          <p:cNvPr id="13" name="Text 8"/>
          <p:cNvSpPr/>
          <p:nvPr/>
        </p:nvSpPr>
        <p:spPr>
          <a:xfrm>
            <a:off x="9829800" y="3392140"/>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Gene stays OFF</a:t>
            </a:r>
            <a:endParaRPr lang="en-US" sz="1200" dirty="0"/>
          </a:p>
        </p:txBody>
      </p:sp>
      <p:sp>
        <p:nvSpPr>
          <p:cNvPr id="14" name="Text 9"/>
          <p:cNvSpPr/>
          <p:nvPr/>
        </p:nvSpPr>
        <p:spPr>
          <a:xfrm>
            <a:off x="812800" y="6238280"/>
            <a:ext cx="6152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3D genome folding — not DNA sequence — decides which enhancer reaches which gene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609600"/>
            <a:ext cx="10883392" cy="174675"/>
          </a:xfrm>
          <a:prstGeom prst="rect">
            <a:avLst/>
          </a:prstGeom>
          <a:noFill/>
          <a:ln/>
        </p:spPr>
        <p:txBody>
          <a:bodyPr wrap="square" lIns="0" tIns="0" rIns="0" bIns="0" rtlCol="0" anchor="t">
            <a:normAutofit/>
          </a:bodyPr>
          <a:lstStyle/>
          <a:p>
            <a:pPr algn="l" indent="0" marL="0">
              <a:lnSpc>
                <a:spcPts val="1223"/>
              </a:lnSpc>
              <a:buNone/>
            </a:pPr>
            <a:r>
              <a:rPr lang="en-US" sz="873" b="1" spc="100" kern="0" dirty="0">
                <a:solidFill>
                  <a:srgbClr val="B5482A"/>
                </a:solidFill>
                <a:latin typeface="IBM Plex Sans" pitchFamily="34" charset="0"/>
                <a:ea typeface="IBM Plex Sans" pitchFamily="34" charset="-122"/>
                <a:cs typeface="IBM Plex Sans" pitchFamily="34" charset="-120"/>
              </a:rPr>
              <a:t>BACKGROUND</a:t>
            </a:r>
            <a:endParaRPr lang="en-US" sz="873" dirty="0"/>
          </a:p>
        </p:txBody>
      </p:sp>
      <p:sp>
        <p:nvSpPr>
          <p:cNvPr id="3" name="Text 1"/>
          <p:cNvSpPr/>
          <p:nvPr/>
        </p:nvSpPr>
        <p:spPr>
          <a:xfrm>
            <a:off x="812800" y="758875"/>
            <a:ext cx="10883392" cy="537220"/>
          </a:xfrm>
          <a:prstGeom prst="rect">
            <a:avLst/>
          </a:prstGeom>
          <a:noFill/>
          <a:ln/>
        </p:spPr>
        <p:txBody>
          <a:bodyPr wrap="square" lIns="0" tIns="0" rIns="0" bIns="0" rtlCol="0" anchor="t">
            <a:normAutofit/>
          </a:bodyPr>
          <a:lstStyle/>
          <a:p>
            <a:pPr algn="l" indent="0" marL="0">
              <a:lnSpc>
                <a:spcPts val="2798"/>
              </a:lnSpc>
              <a:buNone/>
            </a:pPr>
            <a:r>
              <a:rPr lang="en-US" sz="2332" b="1" dirty="0">
                <a:solidFill>
                  <a:srgbClr val="1A2332"/>
                </a:solidFill>
                <a:latin typeface="Space Grotesk" pitchFamily="34" charset="0"/>
                <a:ea typeface="Space Grotesk" pitchFamily="34" charset="-122"/>
                <a:cs typeface="Space Grotesk" pitchFamily="34" charset="-120"/>
              </a:rPr>
              <a:t>TADs are loops that stop at a boundary — and boundaries are enforceable</a:t>
            </a:r>
            <a:endParaRPr lang="en-US" sz="2332" dirty="0"/>
          </a:p>
        </p:txBody>
      </p:sp>
      <p:pic>
        <p:nvPicPr>
          <p:cNvPr id="4" name="Image 0" descr="Two topologically associating domains (TADs) shown as loops of chromatin anchored on a shared backbone: an inactive TAD on the left with a poised (red) gene and inactive (grey) genes held silent by a Polycomb complex, and an active TAD on the right with active (teal) genes and a nested sub-TAD, separated by a boundary where convergent CTCF/cohesin rings and a STOP sign block loop extrusion between the two domains">    </p:cNvPr>
          <p:cNvPicPr>
            <a:picLocks noChangeAspect="1"/>
          </p:cNvPicPr>
          <p:nvPr/>
        </p:nvPicPr>
        <p:blipFill>
          <a:blip r:embed="rId1"/>
          <a:srcRect l="-27" r="-27" t="0" b="0"/>
          <a:stretch/>
        </p:blipFill>
        <p:spPr>
          <a:xfrm>
            <a:off x="812800" y="1397695"/>
            <a:ext cx="10566400" cy="4445000"/>
          </a:xfrm>
          <a:prstGeom prst="rect">
            <a:avLst/>
          </a:prstGeom>
        </p:spPr>
      </p:pic>
      <p:sp>
        <p:nvSpPr>
          <p:cNvPr id="5" name="Text 2"/>
          <p:cNvSpPr/>
          <p:nvPr/>
        </p:nvSpPr>
        <p:spPr>
          <a:xfrm>
            <a:off x="5708650" y="5137845"/>
            <a:ext cx="6223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FBFBF8"/>
                </a:solidFill>
                <a:latin typeface="IBM Plex Sans" pitchFamily="34" charset="0"/>
                <a:ea typeface="IBM Plex Sans" pitchFamily="34" charset="-122"/>
                <a:cs typeface="IBM Plex Sans" pitchFamily="34" charset="-120"/>
              </a:rPr>
              <a:t>STOP</a:t>
            </a:r>
            <a:endParaRPr lang="en-US" sz="1000" dirty="0"/>
          </a:p>
        </p:txBody>
      </p:sp>
      <p:sp>
        <p:nvSpPr>
          <p:cNvPr id="6" name="Text 3"/>
          <p:cNvSpPr/>
          <p:nvPr/>
        </p:nvSpPr>
        <p:spPr>
          <a:xfrm>
            <a:off x="5232400" y="4540945"/>
            <a:ext cx="1193800"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2332"/>
                </a:solidFill>
                <a:latin typeface="IBM Plex Sans" pitchFamily="34" charset="0"/>
                <a:ea typeface="IBM Plex Sans" pitchFamily="34" charset="-122"/>
                <a:cs typeface="IBM Plex Sans" pitchFamily="34" charset="-120"/>
              </a:rPr>
              <a:t>Boundary</a:t>
            </a:r>
            <a:endParaRPr lang="en-US" sz="1100" dirty="0"/>
          </a:p>
        </p:txBody>
      </p:sp>
      <p:sp>
        <p:nvSpPr>
          <p:cNvPr id="7" name="Text 4"/>
          <p:cNvSpPr/>
          <p:nvPr/>
        </p:nvSpPr>
        <p:spPr>
          <a:xfrm>
            <a:off x="2247900" y="3461445"/>
            <a:ext cx="16383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A2332"/>
                </a:solidFill>
                <a:latin typeface="IBM Plex Sans" pitchFamily="34" charset="0"/>
                <a:ea typeface="IBM Plex Sans" pitchFamily="34" charset="-122"/>
                <a:cs typeface="IBM Plex Sans" pitchFamily="34" charset="-120"/>
              </a:rPr>
              <a:t>Inactive TAD</a:t>
            </a:r>
            <a:endParaRPr lang="en-US" sz="1400" dirty="0"/>
          </a:p>
        </p:txBody>
      </p:sp>
      <p:sp>
        <p:nvSpPr>
          <p:cNvPr id="8" name="Text 5"/>
          <p:cNvSpPr/>
          <p:nvPr/>
        </p:nvSpPr>
        <p:spPr>
          <a:xfrm>
            <a:off x="8026400" y="3556695"/>
            <a:ext cx="1701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A2332"/>
                </a:solidFill>
                <a:latin typeface="IBM Plex Sans" pitchFamily="34" charset="0"/>
                <a:ea typeface="IBM Plex Sans" pitchFamily="34" charset="-122"/>
                <a:cs typeface="IBM Plex Sans" pitchFamily="34" charset="-120"/>
              </a:rPr>
              <a:t>Active TAD</a:t>
            </a:r>
            <a:endParaRPr lang="en-US" sz="1400" dirty="0"/>
          </a:p>
        </p:txBody>
      </p:sp>
      <p:sp>
        <p:nvSpPr>
          <p:cNvPr id="9" name="Text 6"/>
          <p:cNvSpPr/>
          <p:nvPr/>
        </p:nvSpPr>
        <p:spPr>
          <a:xfrm>
            <a:off x="8693150" y="1842195"/>
            <a:ext cx="10033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B5482A"/>
                </a:solidFill>
                <a:latin typeface="IBM Plex Sans" pitchFamily="34" charset="0"/>
                <a:ea typeface="IBM Plex Sans" pitchFamily="34" charset="-122"/>
                <a:cs typeface="IBM Plex Sans" pitchFamily="34" charset="-120"/>
              </a:rPr>
              <a:t>Sub-TAD</a:t>
            </a:r>
            <a:endParaRPr lang="en-US" sz="1000" dirty="0"/>
          </a:p>
        </p:txBody>
      </p:sp>
      <p:sp>
        <p:nvSpPr>
          <p:cNvPr id="10" name="Text 7"/>
          <p:cNvSpPr/>
          <p:nvPr/>
        </p:nvSpPr>
        <p:spPr>
          <a:xfrm>
            <a:off x="914400" y="5588695"/>
            <a:ext cx="1447800" cy="34538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6A7179"/>
                </a:solidFill>
                <a:latin typeface="IBM Plex Sans" pitchFamily="34" charset="0"/>
                <a:ea typeface="IBM Plex Sans" pitchFamily="34" charset="-122"/>
                <a:cs typeface="IBM Plex Sans" pitchFamily="34" charset="-120"/>
              </a:rPr>
              <a:t>Polycomb complex holds this gene silent</a:t>
            </a:r>
            <a:endParaRPr lang="en-US" sz="900" dirty="0"/>
          </a:p>
        </p:txBody>
      </p:sp>
      <p:sp>
        <p:nvSpPr>
          <p:cNvPr id="11" name="Text 8"/>
          <p:cNvSpPr/>
          <p:nvPr/>
        </p:nvSpPr>
        <p:spPr>
          <a:xfrm>
            <a:off x="4973320" y="5588695"/>
            <a:ext cx="2092960" cy="34538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6A7179"/>
                </a:solidFill>
                <a:latin typeface="IBM Plex Sans" pitchFamily="34" charset="0"/>
                <a:ea typeface="IBM Plex Sans" pitchFamily="34" charset="-122"/>
                <a:cs typeface="IBM Plex Sans" pitchFamily="34" charset="-120"/>
              </a:rPr>
              <a:t>CTCF / cohesin: convergent sites anchor the loop</a:t>
            </a:r>
            <a:endParaRPr lang="en-US" sz="900" dirty="0"/>
          </a:p>
        </p:txBody>
      </p:sp>
      <p:sp>
        <p:nvSpPr>
          <p:cNvPr id="12" name="Text 9"/>
          <p:cNvSpPr/>
          <p:nvPr/>
        </p:nvSpPr>
        <p:spPr>
          <a:xfrm>
            <a:off x="9702800" y="2477195"/>
            <a:ext cx="1447800" cy="345380"/>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A7179"/>
                </a:solidFill>
                <a:latin typeface="IBM Plex Sans" pitchFamily="34" charset="0"/>
                <a:ea typeface="IBM Plex Sans" pitchFamily="34" charset="-122"/>
                <a:cs typeface="IBM Plex Sans" pitchFamily="34" charset="-120"/>
              </a:rPr>
              <a:t>Mediator / cohesin forms the sub-loop</a:t>
            </a:r>
            <a:endParaRPr lang="en-US" sz="900" dirty="0"/>
          </a:p>
        </p:txBody>
      </p:sp>
      <p:sp>
        <p:nvSpPr>
          <p:cNvPr id="13" name="Text 10"/>
          <p:cNvSpPr/>
          <p:nvPr/>
        </p:nvSpPr>
        <p:spPr>
          <a:xfrm>
            <a:off x="654304" y="5969695"/>
            <a:ext cx="10883392" cy="151705"/>
          </a:xfrm>
          <a:prstGeom prst="rect">
            <a:avLst/>
          </a:prstGeom>
          <a:noFill/>
          <a:ln/>
        </p:spPr>
        <p:txBody>
          <a:bodyPr wrap="square" lIns="0" tIns="0" rIns="0" bIns="0" rtlCol="0" anchor="t">
            <a:normAutofit/>
          </a:bodyPr>
          <a:lstStyle/>
          <a:p>
            <a:pPr algn="ctr" indent="0" marL="0">
              <a:lnSpc>
                <a:spcPts val="1025"/>
              </a:lnSpc>
              <a:buNone/>
            </a:pPr>
            <a:r>
              <a:rPr lang="en-US" sz="732" dirty="0">
                <a:solidFill>
                  <a:srgbClr val="6A7179"/>
                </a:solidFill>
                <a:latin typeface="IBM Plex Sans" pitchFamily="34" charset="0"/>
                <a:ea typeface="IBM Plex Sans" pitchFamily="34" charset="-122"/>
                <a:cs typeface="IBM Plex Sans" pitchFamily="34" charset="-120"/>
              </a:rPr>
              <a:t>Same convergent-CTCF logic that separates these TADs is what our staple has to cross to make a new loop</a:t>
            </a:r>
            <a:endParaRPr lang="en-US" sz="73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5482A"/>
                </a:solidFill>
                <a:latin typeface="IBM Plex Sans" pitchFamily="34" charset="0"/>
                <a:ea typeface="IBM Plex Sans" pitchFamily="34" charset="-122"/>
                <a:cs typeface="IBM Plex Sans" pitchFamily="34" charset="-120"/>
              </a:rPr>
              <a:t>METHOD</a:t>
            </a:r>
            <a:endParaRPr lang="en-US" sz="1300" dirty="0"/>
          </a:p>
        </p:txBody>
      </p:sp>
      <p:sp>
        <p:nvSpPr>
          <p:cNvPr id="3" name="Text 1"/>
          <p:cNvSpPr/>
          <p:nvPr/>
        </p:nvSpPr>
        <p:spPr>
          <a:xfrm>
            <a:off x="812800" y="1043930"/>
            <a:ext cx="10883392" cy="9398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A2332"/>
                </a:solidFill>
                <a:latin typeface="Space Grotesk" pitchFamily="34" charset="0"/>
                <a:ea typeface="Space Grotesk" pitchFamily="34" charset="-122"/>
                <a:cs typeface="Space Grotesk" pitchFamily="34" charset="-120"/>
              </a:rPr>
              <a:t>Reversible modulation of gene expression without altering sequence.</a:t>
            </a:r>
            <a:endParaRPr lang="en-US" sz="3000" dirty="0"/>
          </a:p>
        </p:txBody>
      </p:sp>
      <p:sp>
        <p:nvSpPr>
          <p:cNvPr id="4" name="Shape 2"/>
          <p:cNvSpPr/>
          <p:nvPr/>
        </p:nvSpPr>
        <p:spPr>
          <a:xfrm>
            <a:off x="819150" y="2193280"/>
            <a:ext cx="2019300" cy="876300"/>
          </a:xfrm>
          <a:prstGeom prst="roundRect">
            <a:avLst>
              <a:gd name="adj" fmla="val 10870"/>
            </a:avLst>
          </a:prstGeom>
          <a:solidFill>
            <a:srgbClr val="FFFFFF"/>
          </a:solidFill>
          <a:ln w="12700">
            <a:solidFill>
              <a:srgbClr val="D8D3C8"/>
            </a:solidFill>
            <a:prstDash val="solid"/>
          </a:ln>
        </p:spPr>
      </p:sp>
      <p:pic>
        <p:nvPicPr>
          <p:cNvPr id="5" name="Image 0" descr="Database">    </p:cNvPr>
          <p:cNvPicPr>
            <a:picLocks noChangeAspect="1"/>
          </p:cNvPicPr>
          <p:nvPr/>
        </p:nvPicPr>
        <p:blipFill>
          <a:blip r:embed="rId1"/>
          <a:srcRect l="0" r="0" t="0" b="0"/>
          <a:stretch/>
        </p:blipFill>
        <p:spPr>
          <a:xfrm>
            <a:off x="1701800" y="2368550"/>
            <a:ext cx="254000" cy="254000"/>
          </a:xfrm>
          <a:prstGeom prst="rect">
            <a:avLst/>
          </a:prstGeom>
        </p:spPr>
      </p:pic>
      <p:sp>
        <p:nvSpPr>
          <p:cNvPr id="6" name="Text 3"/>
          <p:cNvSpPr/>
          <p:nvPr/>
        </p:nvSpPr>
        <p:spPr>
          <a:xfrm>
            <a:off x="1103709" y="2698750"/>
            <a:ext cx="1450132"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2332"/>
                </a:solidFill>
                <a:latin typeface="IBM Plex Sans" pitchFamily="34" charset="0"/>
                <a:ea typeface="IBM Plex Sans" pitchFamily="34" charset="-122"/>
                <a:cs typeface="IBM Plex Sans" pitchFamily="34" charset="-120"/>
              </a:rPr>
              <a:t>Sequence + Hi-C data</a:t>
            </a:r>
            <a:endParaRPr lang="en-US" sz="1100" dirty="0"/>
          </a:p>
        </p:txBody>
      </p:sp>
      <p:pic>
        <p:nvPicPr>
          <p:cNvPr id="7" name="Image 1" descr="arrow-right">    </p:cNvPr>
          <p:cNvPicPr>
            <a:picLocks noChangeAspect="1"/>
          </p:cNvPicPr>
          <p:nvPr/>
        </p:nvPicPr>
        <p:blipFill>
          <a:blip r:embed="rId2"/>
          <a:srcRect l="0" r="0" t="0" b="0"/>
          <a:stretch/>
        </p:blipFill>
        <p:spPr>
          <a:xfrm>
            <a:off x="2997200" y="2555230"/>
            <a:ext cx="355600" cy="152400"/>
          </a:xfrm>
          <a:prstGeom prst="rect">
            <a:avLst/>
          </a:prstGeom>
        </p:spPr>
      </p:pic>
      <p:sp>
        <p:nvSpPr>
          <p:cNvPr id="8" name="Shape 4"/>
          <p:cNvSpPr/>
          <p:nvPr/>
        </p:nvSpPr>
        <p:spPr>
          <a:xfrm>
            <a:off x="3511550" y="2193280"/>
            <a:ext cx="2019300" cy="876300"/>
          </a:xfrm>
          <a:prstGeom prst="roundRect">
            <a:avLst>
              <a:gd name="adj" fmla="val 10870"/>
            </a:avLst>
          </a:prstGeom>
          <a:solidFill>
            <a:srgbClr val="FFFFFF"/>
          </a:solidFill>
          <a:ln w="12700">
            <a:solidFill>
              <a:srgbClr val="D8D3C8"/>
            </a:solidFill>
            <a:prstDash val="solid"/>
          </a:ln>
        </p:spPr>
      </p:sp>
      <p:pic>
        <p:nvPicPr>
          <p:cNvPr id="9" name="Image 2" descr="Lightning">    </p:cNvPr>
          <p:cNvPicPr>
            <a:picLocks noChangeAspect="1"/>
          </p:cNvPicPr>
          <p:nvPr/>
        </p:nvPicPr>
        <p:blipFill>
          <a:blip r:embed="rId3"/>
          <a:srcRect l="0" r="0" t="0" b="0"/>
          <a:stretch/>
        </p:blipFill>
        <p:spPr>
          <a:xfrm>
            <a:off x="4394200" y="2270770"/>
            <a:ext cx="254000" cy="254000"/>
          </a:xfrm>
          <a:prstGeom prst="rect">
            <a:avLst/>
          </a:prstGeom>
        </p:spPr>
      </p:pic>
      <p:sp>
        <p:nvSpPr>
          <p:cNvPr id="10" name="Text 5"/>
          <p:cNvSpPr/>
          <p:nvPr/>
        </p:nvSpPr>
        <p:spPr>
          <a:xfrm>
            <a:off x="3487801" y="2600970"/>
            <a:ext cx="2066798" cy="41652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2332"/>
                </a:solidFill>
                <a:latin typeface="IBM Plex Sans" pitchFamily="34" charset="0"/>
                <a:ea typeface="IBM Plex Sans" pitchFamily="34" charset="-122"/>
                <a:cs typeface="IBM Plex Sans" pitchFamily="34" charset="-120"/>
              </a:rPr>
              <a:t>Classifier predicts E-P probabilities from sequence</a:t>
            </a:r>
            <a:endParaRPr lang="en-US" sz="1100" dirty="0"/>
          </a:p>
        </p:txBody>
      </p:sp>
      <p:pic>
        <p:nvPicPr>
          <p:cNvPr id="11" name="Image 3" descr="arrow-right">    </p:cNvPr>
          <p:cNvPicPr>
            <a:picLocks noChangeAspect="1"/>
          </p:cNvPicPr>
          <p:nvPr/>
        </p:nvPicPr>
        <p:blipFill>
          <a:blip r:embed="rId4"/>
          <a:srcRect l="0" r="0" t="0" b="0"/>
          <a:stretch/>
        </p:blipFill>
        <p:spPr>
          <a:xfrm>
            <a:off x="5689600" y="2555230"/>
            <a:ext cx="355600" cy="152400"/>
          </a:xfrm>
          <a:prstGeom prst="rect">
            <a:avLst/>
          </a:prstGeom>
        </p:spPr>
      </p:pic>
      <p:sp>
        <p:nvSpPr>
          <p:cNvPr id="12" name="Shape 6"/>
          <p:cNvSpPr/>
          <p:nvPr/>
        </p:nvSpPr>
        <p:spPr>
          <a:xfrm>
            <a:off x="6203950" y="2193280"/>
            <a:ext cx="2019300" cy="876300"/>
          </a:xfrm>
          <a:prstGeom prst="roundRect">
            <a:avLst>
              <a:gd name="adj" fmla="val 10870"/>
            </a:avLst>
          </a:prstGeom>
          <a:solidFill>
            <a:srgbClr val="FFFFFF"/>
          </a:solidFill>
          <a:ln w="12700">
            <a:solidFill>
              <a:srgbClr val="D8D3C8"/>
            </a:solidFill>
            <a:prstDash val="solid"/>
          </a:ln>
        </p:spPr>
      </p:sp>
      <p:pic>
        <p:nvPicPr>
          <p:cNvPr id="13" name="Image 4" descr="Link">    </p:cNvPr>
          <p:cNvPicPr>
            <a:picLocks noChangeAspect="1"/>
          </p:cNvPicPr>
          <p:nvPr/>
        </p:nvPicPr>
        <p:blipFill>
          <a:blip r:embed="rId5"/>
          <a:srcRect l="0" r="0" t="0" b="0"/>
          <a:stretch/>
        </p:blipFill>
        <p:spPr>
          <a:xfrm>
            <a:off x="7086600" y="2368550"/>
            <a:ext cx="254000" cy="254000"/>
          </a:xfrm>
          <a:prstGeom prst="rect">
            <a:avLst/>
          </a:prstGeom>
        </p:spPr>
      </p:pic>
      <p:sp>
        <p:nvSpPr>
          <p:cNvPr id="14" name="Text 7"/>
          <p:cNvSpPr/>
          <p:nvPr/>
        </p:nvSpPr>
        <p:spPr>
          <a:xfrm>
            <a:off x="6312851" y="2698750"/>
            <a:ext cx="1801448"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2332"/>
                </a:solidFill>
                <a:latin typeface="IBM Plex Sans" pitchFamily="34" charset="0"/>
                <a:ea typeface="IBM Plex Sans" pitchFamily="34" charset="-122"/>
                <a:cs typeface="IBM Plex Sans" pitchFamily="34" charset="-120"/>
              </a:rPr>
              <a:t>dCas staple forces the loop</a:t>
            </a:r>
            <a:endParaRPr lang="en-US" sz="1100" dirty="0"/>
          </a:p>
        </p:txBody>
      </p:sp>
      <p:pic>
        <p:nvPicPr>
          <p:cNvPr id="15" name="Image 5" descr="arrow-right">    </p:cNvPr>
          <p:cNvPicPr>
            <a:picLocks noChangeAspect="1"/>
          </p:cNvPicPr>
          <p:nvPr/>
        </p:nvPicPr>
        <p:blipFill>
          <a:blip r:embed="rId6"/>
          <a:srcRect l="0" r="0" t="0" b="0"/>
          <a:stretch/>
        </p:blipFill>
        <p:spPr>
          <a:xfrm>
            <a:off x="8382000" y="2555230"/>
            <a:ext cx="355600" cy="152400"/>
          </a:xfrm>
          <a:prstGeom prst="rect">
            <a:avLst/>
          </a:prstGeom>
        </p:spPr>
      </p:pic>
      <p:sp>
        <p:nvSpPr>
          <p:cNvPr id="16" name="Shape 8"/>
          <p:cNvSpPr/>
          <p:nvPr/>
        </p:nvSpPr>
        <p:spPr>
          <a:xfrm>
            <a:off x="8896350" y="2193280"/>
            <a:ext cx="2019300" cy="876300"/>
          </a:xfrm>
          <a:prstGeom prst="roundRect">
            <a:avLst>
              <a:gd name="adj" fmla="val 10870"/>
            </a:avLst>
          </a:prstGeom>
          <a:solidFill>
            <a:srgbClr val="FFFFFF"/>
          </a:solidFill>
          <a:ln w="12700">
            <a:solidFill>
              <a:srgbClr val="D8D3C8"/>
            </a:solidFill>
            <a:prstDash val="solid"/>
          </a:ln>
        </p:spPr>
      </p:sp>
      <p:pic>
        <p:nvPicPr>
          <p:cNvPr id="17" name="Image 6" descr="Key">    </p:cNvPr>
          <p:cNvPicPr>
            <a:picLocks noChangeAspect="1"/>
          </p:cNvPicPr>
          <p:nvPr/>
        </p:nvPicPr>
        <p:blipFill>
          <a:blip r:embed="rId7"/>
          <a:srcRect l="0" r="0" t="0" b="0"/>
          <a:stretch/>
        </p:blipFill>
        <p:spPr>
          <a:xfrm>
            <a:off x="9779000" y="2270770"/>
            <a:ext cx="254000" cy="254000"/>
          </a:xfrm>
          <a:prstGeom prst="rect">
            <a:avLst/>
          </a:prstGeom>
        </p:spPr>
      </p:pic>
      <p:sp>
        <p:nvSpPr>
          <p:cNvPr id="18" name="Text 9"/>
          <p:cNvSpPr/>
          <p:nvPr/>
        </p:nvSpPr>
        <p:spPr>
          <a:xfrm>
            <a:off x="8872601" y="2600970"/>
            <a:ext cx="2066798" cy="41652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2332"/>
                </a:solidFill>
                <a:latin typeface="IBM Plex Sans" pitchFamily="34" charset="0"/>
                <a:ea typeface="IBM Plex Sans" pitchFamily="34" charset="-122"/>
                <a:cs typeface="IBM Plex Sans" pitchFamily="34" charset="-120"/>
              </a:rPr>
              <a:t>Drug switch makes it reversible</a:t>
            </a:r>
            <a:endParaRPr lang="en-US" sz="1100" dirty="0"/>
          </a:p>
        </p:txBody>
      </p:sp>
      <p:pic>
        <p:nvPicPr>
          <p:cNvPr id="19" name="Image 7" descr="Chromatin fiber: DNA wound around histones, forming a long S-curve of enlarged nucleosome beads">    </p:cNvPr>
          <p:cNvPicPr>
            <a:picLocks noChangeAspect="1"/>
          </p:cNvPicPr>
          <p:nvPr/>
        </p:nvPicPr>
        <p:blipFill>
          <a:blip r:embed="rId8"/>
          <a:srcRect l="-33" r="-33" t="0" b="0"/>
          <a:stretch/>
        </p:blipFill>
        <p:spPr>
          <a:xfrm>
            <a:off x="812800" y="3304530"/>
            <a:ext cx="10566400" cy="2413000"/>
          </a:xfrm>
          <a:prstGeom prst="rect">
            <a:avLst/>
          </a:prstGeom>
        </p:spPr>
      </p:pic>
      <p:sp>
        <p:nvSpPr>
          <p:cNvPr id="20" name="Shape 10"/>
          <p:cNvSpPr/>
          <p:nvPr/>
        </p:nvSpPr>
        <p:spPr>
          <a:xfrm>
            <a:off x="6096000" y="3304530"/>
            <a:ext cx="12700" cy="2413000"/>
          </a:xfrm>
          <a:prstGeom prst="rect">
            <a:avLst/>
          </a:prstGeom>
          <a:solidFill>
            <a:srgbClr val="E4DED0"/>
          </a:solidFill>
          <a:ln/>
        </p:spPr>
      </p:sp>
      <p:pic>
        <p:nvPicPr>
          <p:cNvPr id="21" name="Image 8" descr="Two large convergent triangular arrowheads marking the CTCF binding sites at the TAD boundary">    </p:cNvPr>
          <p:cNvPicPr>
            <a:picLocks noChangeAspect="1"/>
          </p:cNvPicPr>
          <p:nvPr/>
        </p:nvPicPr>
        <p:blipFill>
          <a:blip r:embed="rId9"/>
          <a:srcRect l="-33" r="-33" t="0" b="0"/>
          <a:stretch/>
        </p:blipFill>
        <p:spPr>
          <a:xfrm>
            <a:off x="812800" y="3304530"/>
            <a:ext cx="10566400" cy="2413000"/>
          </a:xfrm>
          <a:prstGeom prst="rect">
            <a:avLst/>
          </a:prstGeom>
        </p:spPr>
      </p:pic>
      <p:sp>
        <p:nvSpPr>
          <p:cNvPr id="22" name="Text 11"/>
          <p:cNvSpPr/>
          <p:nvPr/>
        </p:nvSpPr>
        <p:spPr>
          <a:xfrm>
            <a:off x="4844034" y="3844280"/>
            <a:ext cx="2249932"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B5482A"/>
                </a:solidFill>
                <a:latin typeface="Arial" pitchFamily="34" charset="0"/>
                <a:ea typeface="Arial" pitchFamily="34" charset="-122"/>
                <a:cs typeface="Arial" pitchFamily="34" charset="-120"/>
              </a:rPr>
              <a:t>The engineered loop bridges the CTCF boundary</a:t>
            </a:r>
            <a:endParaRPr lang="en-US" sz="1000" dirty="0"/>
          </a:p>
        </p:txBody>
      </p:sp>
      <p:sp>
        <p:nvSpPr>
          <p:cNvPr id="23" name="Shape 12"/>
          <p:cNvSpPr/>
          <p:nvPr/>
        </p:nvSpPr>
        <p:spPr>
          <a:xfrm>
            <a:off x="1022350" y="5050780"/>
            <a:ext cx="1384300" cy="431800"/>
          </a:xfrm>
          <a:prstGeom prst="roundRect">
            <a:avLst>
              <a:gd name="adj" fmla="val 16176"/>
            </a:avLst>
          </a:prstGeom>
          <a:solidFill>
            <a:srgbClr val="E4DED0"/>
          </a:solidFill>
          <a:ln w="12700">
            <a:solidFill>
              <a:srgbClr val="A89F88"/>
            </a:solidFill>
            <a:prstDash val="solid"/>
          </a:ln>
        </p:spPr>
      </p:sp>
      <p:sp>
        <p:nvSpPr>
          <p:cNvPr id="24" name="Text 13"/>
          <p:cNvSpPr/>
          <p:nvPr/>
        </p:nvSpPr>
        <p:spPr>
          <a:xfrm>
            <a:off x="1358900" y="5151090"/>
            <a:ext cx="7619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413"/>
                </a:solidFill>
                <a:latin typeface="Arial" pitchFamily="34" charset="0"/>
                <a:ea typeface="Arial" pitchFamily="34" charset="-122"/>
                <a:cs typeface="Arial" pitchFamily="34" charset="-120"/>
              </a:rPr>
              <a:t>Enhancer</a:t>
            </a:r>
            <a:endParaRPr lang="en-US" sz="1300" dirty="0"/>
          </a:p>
        </p:txBody>
      </p:sp>
      <p:sp>
        <p:nvSpPr>
          <p:cNvPr id="25" name="Shape 14"/>
          <p:cNvSpPr/>
          <p:nvPr/>
        </p:nvSpPr>
        <p:spPr>
          <a:xfrm>
            <a:off x="9855200" y="3495030"/>
            <a:ext cx="1397000" cy="444500"/>
          </a:xfrm>
          <a:prstGeom prst="roundRect">
            <a:avLst>
              <a:gd name="adj" fmla="val 17143"/>
            </a:avLst>
          </a:prstGeom>
          <a:solidFill>
            <a:srgbClr val="B5482A"/>
          </a:solidFill>
          <a:ln/>
        </p:spPr>
      </p:sp>
      <p:sp>
        <p:nvSpPr>
          <p:cNvPr id="26" name="Text 15"/>
          <p:cNvSpPr/>
          <p:nvPr/>
        </p:nvSpPr>
        <p:spPr>
          <a:xfrm>
            <a:off x="10049470" y="3601690"/>
            <a:ext cx="105925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FBF8"/>
                </a:solidFill>
                <a:latin typeface="Arial" pitchFamily="34" charset="0"/>
                <a:ea typeface="Arial" pitchFamily="34" charset="-122"/>
                <a:cs typeface="Arial" pitchFamily="34" charset="-120"/>
              </a:rPr>
              <a:t>Disease gene</a:t>
            </a:r>
            <a:endParaRPr lang="en-US" sz="1300" dirty="0"/>
          </a:p>
        </p:txBody>
      </p:sp>
      <p:pic>
        <p:nvPicPr>
          <p:cNvPr id="27" name="Image 9" descr="Solid arc with an arrowhead showing the engineered loop bringing the enhancer into contact with the gene">    </p:cNvPr>
          <p:cNvPicPr>
            <a:picLocks noChangeAspect="1"/>
          </p:cNvPicPr>
          <p:nvPr/>
        </p:nvPicPr>
        <p:blipFill>
          <a:blip r:embed="rId10"/>
          <a:srcRect l="-33" r="-33" t="0" b="0"/>
          <a:stretch/>
        </p:blipFill>
        <p:spPr>
          <a:xfrm>
            <a:off x="812800" y="3304530"/>
            <a:ext cx="10566400" cy="2413000"/>
          </a:xfrm>
          <a:prstGeom prst="rect">
            <a:avLst/>
          </a:prstGeom>
        </p:spPr>
      </p:pic>
      <p:sp>
        <p:nvSpPr>
          <p:cNvPr id="28" name="Text 16"/>
          <p:cNvSpPr/>
          <p:nvPr/>
        </p:nvSpPr>
        <p:spPr>
          <a:xfrm>
            <a:off x="9829800" y="4003030"/>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482A"/>
                </a:solidFill>
                <a:latin typeface="Arial" pitchFamily="34" charset="0"/>
                <a:ea typeface="Arial" pitchFamily="34" charset="-122"/>
                <a:cs typeface="Arial" pitchFamily="34" charset="-120"/>
              </a:rPr>
              <a:t>Gene switches 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5482A"/>
                </a:solidFill>
                <a:latin typeface="IBM Plex Sans" pitchFamily="34" charset="0"/>
                <a:ea typeface="IBM Plex Sans" pitchFamily="34" charset="-122"/>
                <a:cs typeface="IBM Plex Sans" pitchFamily="34" charset="-120"/>
              </a:rPr>
              <a:t>THE PREDICTION MODEL</a:t>
            </a:r>
            <a:endParaRPr lang="en-US" sz="1300" dirty="0"/>
          </a:p>
        </p:txBody>
      </p:sp>
      <p:sp>
        <p:nvSpPr>
          <p:cNvPr id="3" name="Text 1"/>
          <p:cNvSpPr/>
          <p:nvPr/>
        </p:nvSpPr>
        <p:spPr>
          <a:xfrm>
            <a:off x="812800" y="1043930"/>
            <a:ext cx="10883392"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A2332"/>
                </a:solidFill>
                <a:latin typeface="Space Grotesk" pitchFamily="34" charset="0"/>
                <a:ea typeface="Space Grotesk" pitchFamily="34" charset="-122"/>
                <a:cs typeface="Space Grotesk" pitchFamily="34" charset="-120"/>
              </a:rPr>
              <a:t>From sequence and Hi-C to genome-wide target discovery</a:t>
            </a:r>
            <a:endParaRPr lang="en-US" sz="2600" dirty="0"/>
          </a:p>
        </p:txBody>
      </p:sp>
      <p:sp>
        <p:nvSpPr>
          <p:cNvPr id="4" name="Shape 2"/>
          <p:cNvSpPr/>
          <p:nvPr/>
        </p:nvSpPr>
        <p:spPr>
          <a:xfrm>
            <a:off x="1054100" y="2818110"/>
            <a:ext cx="1892300" cy="1003300"/>
          </a:xfrm>
          <a:prstGeom prst="roundRect">
            <a:avLst>
              <a:gd name="adj" fmla="val 9494"/>
            </a:avLst>
          </a:prstGeom>
          <a:solidFill>
            <a:srgbClr val="FFFFFF"/>
          </a:solidFill>
          <a:ln w="12700">
            <a:solidFill>
              <a:srgbClr val="D8D3C8"/>
            </a:solidFill>
            <a:prstDash val="solid"/>
          </a:ln>
        </p:spPr>
      </p:sp>
      <p:pic>
        <p:nvPicPr>
          <p:cNvPr id="5" name="Image 0" descr="Database">    </p:cNvPr>
          <p:cNvPicPr>
            <a:picLocks noChangeAspect="1"/>
          </p:cNvPicPr>
          <p:nvPr/>
        </p:nvPicPr>
        <p:blipFill>
          <a:blip r:embed="rId1"/>
          <a:srcRect l="0" r="0" t="0" b="0"/>
          <a:stretch/>
        </p:blipFill>
        <p:spPr>
          <a:xfrm>
            <a:off x="1873250" y="2967980"/>
            <a:ext cx="254000" cy="254000"/>
          </a:xfrm>
          <a:prstGeom prst="rect">
            <a:avLst/>
          </a:prstGeom>
        </p:spPr>
      </p:pic>
      <p:sp>
        <p:nvSpPr>
          <p:cNvPr id="6" name="Text 3"/>
          <p:cNvSpPr/>
          <p:nvPr/>
        </p:nvSpPr>
        <p:spPr>
          <a:xfrm>
            <a:off x="1400969" y="3298180"/>
            <a:ext cx="1198563" cy="398760"/>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1A2332"/>
                </a:solidFill>
                <a:latin typeface="IBM Plex Sans" pitchFamily="34" charset="0"/>
                <a:ea typeface="IBM Plex Sans" pitchFamily="34" charset="-122"/>
                <a:cs typeface="IBM Plex Sans" pitchFamily="34" charset="-120"/>
              </a:rPr>
              <a:t>DNA sequence</a:t>
            </a:r>
            <a:endParaRPr lang="en-US" sz="1050" dirty="0"/>
          </a:p>
          <a:p>
            <a:pPr algn="ctr" indent="0" marL="0">
              <a:lnSpc>
                <a:spcPts val="1470"/>
              </a:lnSpc>
              <a:buNone/>
            </a:pPr>
            <a:r>
              <a:rPr lang="en-US" sz="1050" b="1" dirty="0">
                <a:solidFill>
                  <a:srgbClr val="1A2332"/>
                </a:solidFill>
                <a:latin typeface="IBM Plex Sans" pitchFamily="34" charset="0"/>
                <a:ea typeface="IBM Plex Sans" pitchFamily="34" charset="-122"/>
                <a:cs typeface="IBM Plex Sans" pitchFamily="34" charset="-120"/>
              </a:rPr>
              <a:t>(~1–2 Mb window)</a:t>
            </a:r>
            <a:endParaRPr lang="en-US" sz="1050" dirty="0"/>
          </a:p>
        </p:txBody>
      </p:sp>
      <p:pic>
        <p:nvPicPr>
          <p:cNvPr id="7" name="Image 1" descr="arrow-right">    </p:cNvPr>
          <p:cNvPicPr>
            <a:picLocks noChangeAspect="1"/>
          </p:cNvPicPr>
          <p:nvPr/>
        </p:nvPicPr>
        <p:blipFill>
          <a:blip r:embed="rId2"/>
          <a:srcRect l="0" r="0" t="0" b="0"/>
          <a:stretch/>
        </p:blipFill>
        <p:spPr>
          <a:xfrm>
            <a:off x="2952750" y="3224510"/>
            <a:ext cx="317500" cy="190500"/>
          </a:xfrm>
          <a:prstGeom prst="rect">
            <a:avLst/>
          </a:prstGeom>
        </p:spPr>
      </p:pic>
      <p:sp>
        <p:nvSpPr>
          <p:cNvPr id="8" name="Shape 4"/>
          <p:cNvSpPr/>
          <p:nvPr/>
        </p:nvSpPr>
        <p:spPr>
          <a:xfrm>
            <a:off x="3270250" y="2621260"/>
            <a:ext cx="2540000" cy="1397000"/>
          </a:xfrm>
          <a:prstGeom prst="roundRect">
            <a:avLst>
              <a:gd name="adj" fmla="val 7273"/>
            </a:avLst>
          </a:prstGeom>
          <a:solidFill>
            <a:srgbClr val="1A2332"/>
          </a:solidFill>
          <a:ln/>
        </p:spPr>
      </p:sp>
      <p:pic>
        <p:nvPicPr>
          <p:cNvPr id="9" name="Image 2" descr="Lightning">    </p:cNvPr>
          <p:cNvPicPr>
            <a:picLocks noChangeAspect="1"/>
          </p:cNvPicPr>
          <p:nvPr/>
        </p:nvPicPr>
        <p:blipFill>
          <a:blip r:embed="rId3"/>
          <a:srcRect l="0" r="0" t="0" b="0"/>
          <a:stretch/>
        </p:blipFill>
        <p:spPr>
          <a:xfrm>
            <a:off x="4400550" y="2934345"/>
            <a:ext cx="279400" cy="279400"/>
          </a:xfrm>
          <a:prstGeom prst="rect">
            <a:avLst/>
          </a:prstGeom>
        </p:spPr>
      </p:pic>
      <p:sp>
        <p:nvSpPr>
          <p:cNvPr id="10" name="Text 5"/>
          <p:cNvSpPr/>
          <p:nvPr/>
        </p:nvSpPr>
        <p:spPr>
          <a:xfrm>
            <a:off x="3566176" y="3277245"/>
            <a:ext cx="1948098" cy="229840"/>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FBFBF8"/>
                </a:solidFill>
                <a:latin typeface="IBM Plex Sans" pitchFamily="34" charset="0"/>
                <a:ea typeface="IBM Plex Sans" pitchFamily="34" charset="-122"/>
                <a:cs typeface="IBM Plex Sans" pitchFamily="34" charset="-120"/>
              </a:rPr>
              <a:t>Sequence-to-contact model</a:t>
            </a:r>
            <a:endParaRPr lang="en-US" sz="1150" dirty="0"/>
          </a:p>
        </p:txBody>
      </p:sp>
      <p:sp>
        <p:nvSpPr>
          <p:cNvPr id="11" name="Text 6"/>
          <p:cNvSpPr/>
          <p:nvPr/>
        </p:nvSpPr>
        <p:spPr>
          <a:xfrm>
            <a:off x="3604806" y="3545185"/>
            <a:ext cx="1870838" cy="18539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D8D3C8"/>
                </a:solidFill>
                <a:latin typeface="IBM Plex Sans" pitchFamily="34" charset="0"/>
                <a:ea typeface="IBM Plex Sans" pitchFamily="34" charset="-122"/>
                <a:cs typeface="IBM Plex Sans" pitchFamily="34" charset="-120"/>
              </a:rPr>
              <a:t>dilated CNN (Akita / AkitaV2 / Orca)</a:t>
            </a:r>
            <a:endParaRPr lang="en-US" sz="900" dirty="0"/>
          </a:p>
        </p:txBody>
      </p:sp>
      <p:pic>
        <p:nvPicPr>
          <p:cNvPr id="12" name="Image 3" descr="arrow-right">    </p:cNvPr>
          <p:cNvPicPr>
            <a:picLocks noChangeAspect="1"/>
          </p:cNvPicPr>
          <p:nvPr/>
        </p:nvPicPr>
        <p:blipFill>
          <a:blip r:embed="rId4"/>
          <a:srcRect l="0" r="0" t="0" b="0"/>
          <a:stretch/>
        </p:blipFill>
        <p:spPr>
          <a:xfrm>
            <a:off x="5810250" y="3224510"/>
            <a:ext cx="317500" cy="190500"/>
          </a:xfrm>
          <a:prstGeom prst="rect">
            <a:avLst/>
          </a:prstGeom>
        </p:spPr>
      </p:pic>
      <p:sp>
        <p:nvSpPr>
          <p:cNvPr id="13" name="Shape 7"/>
          <p:cNvSpPr/>
          <p:nvPr/>
        </p:nvSpPr>
        <p:spPr>
          <a:xfrm>
            <a:off x="6134100" y="1992610"/>
            <a:ext cx="2019300" cy="2654300"/>
          </a:xfrm>
          <a:prstGeom prst="roundRect">
            <a:avLst>
              <a:gd name="adj" fmla="val 4717"/>
            </a:avLst>
          </a:prstGeom>
          <a:solidFill>
            <a:srgbClr val="FFFFFF"/>
          </a:solidFill>
          <a:ln w="12700">
            <a:solidFill>
              <a:srgbClr val="D8D3C8"/>
            </a:solidFill>
            <a:prstDash val="solid"/>
          </a:ln>
        </p:spPr>
      </p:sp>
      <p:sp>
        <p:nvSpPr>
          <p:cNvPr id="14" name="Text 8"/>
          <p:cNvSpPr/>
          <p:nvPr/>
        </p:nvSpPr>
        <p:spPr>
          <a:xfrm>
            <a:off x="6464846" y="2113260"/>
            <a:ext cx="1357809" cy="198090"/>
          </a:xfrm>
          <a:prstGeom prst="rect">
            <a:avLst/>
          </a:prstGeom>
          <a:noFill/>
          <a:ln/>
        </p:spPr>
        <p:txBody>
          <a:bodyPr wrap="square" lIns="0" tIns="0" rIns="0" bIns="0" rtlCol="0" anchor="t">
            <a:normAutofit/>
          </a:bodyPr>
          <a:lstStyle/>
          <a:p>
            <a:pPr algn="ctr" indent="0" marL="0">
              <a:lnSpc>
                <a:spcPts val="1374"/>
              </a:lnSpc>
              <a:buNone/>
            </a:pPr>
            <a:r>
              <a:rPr lang="en-US" sz="981" b="1" dirty="0">
                <a:solidFill>
                  <a:srgbClr val="1A2332"/>
                </a:solidFill>
                <a:latin typeface="IBM Plex Sans" pitchFamily="34" charset="0"/>
                <a:ea typeface="IBM Plex Sans" pitchFamily="34" charset="-122"/>
                <a:cs typeface="IBM Plex Sans" pitchFamily="34" charset="-120"/>
              </a:rPr>
              <a:t>Predicted contact map</a:t>
            </a:r>
            <a:endParaRPr lang="en-US" sz="981" dirty="0"/>
          </a:p>
        </p:txBody>
      </p:sp>
      <p:pic>
        <p:nvPicPr>
          <p:cNvPr id="15" name="Image 4" descr="Predicted contact probability heatmap: warm diagonal shows nearby genomic bins in frequent contact, and one bright off-diagonal cell shows a predicted long-range enhancer-promoter loop">    </p:cNvPr>
          <p:cNvPicPr>
            <a:picLocks noChangeAspect="1"/>
          </p:cNvPicPr>
          <p:nvPr/>
        </p:nvPicPr>
        <p:blipFill>
          <a:blip r:embed="rId5"/>
          <a:srcRect l="-1474" r="-1474" t="0" b="0"/>
          <a:stretch/>
        </p:blipFill>
        <p:spPr>
          <a:xfrm>
            <a:off x="6254750" y="2362150"/>
            <a:ext cx="1778000" cy="1727101"/>
          </a:xfrm>
          <a:prstGeom prst="rect">
            <a:avLst/>
          </a:prstGeom>
        </p:spPr>
      </p:pic>
      <p:sp>
        <p:nvSpPr>
          <p:cNvPr id="16" name="Text 9"/>
          <p:cNvSpPr/>
          <p:nvPr/>
        </p:nvSpPr>
        <p:spPr>
          <a:xfrm>
            <a:off x="6228080" y="4165451"/>
            <a:ext cx="1831340" cy="386209"/>
          </a:xfrm>
          <a:prstGeom prst="rect">
            <a:avLst/>
          </a:prstGeom>
          <a:noFill/>
          <a:ln/>
        </p:spPr>
        <p:txBody>
          <a:bodyPr wrap="square" lIns="0" tIns="0" rIns="0" bIns="0" rtlCol="0" anchor="t">
            <a:normAutofit/>
          </a:bodyPr>
          <a:lstStyle/>
          <a:p>
            <a:pPr algn="ctr" indent="0" marL="0">
              <a:lnSpc>
                <a:spcPts val="957"/>
              </a:lnSpc>
              <a:buNone/>
            </a:pPr>
            <a:r>
              <a:rPr lang="en-US" sz="736" dirty="0">
                <a:solidFill>
                  <a:srgbClr val="6A7179"/>
                </a:solidFill>
                <a:latin typeface="IBM Plex Sans" pitchFamily="34" charset="0"/>
                <a:ea typeface="IBM Plex Sans" pitchFamily="34" charset="-122"/>
                <a:cs typeface="IBM Plex Sans" pitchFamily="34" charset="-120"/>
              </a:rPr>
              <a:t>Diagonal = nearby DNA in frequent contact; teal cell = a predicted long-range loop</a:t>
            </a:r>
            <a:endParaRPr lang="en-US" sz="736" dirty="0"/>
          </a:p>
        </p:txBody>
      </p:sp>
      <p:pic>
        <p:nvPicPr>
          <p:cNvPr id="17" name="Image 5" descr="arrow-right">    </p:cNvPr>
          <p:cNvPicPr>
            <a:picLocks noChangeAspect="1"/>
          </p:cNvPicPr>
          <p:nvPr/>
        </p:nvPicPr>
        <p:blipFill>
          <a:blip r:embed="rId6"/>
          <a:srcRect l="0" r="0" t="0" b="0"/>
          <a:stretch/>
        </p:blipFill>
        <p:spPr>
          <a:xfrm>
            <a:off x="8159750" y="3224510"/>
            <a:ext cx="317500" cy="190500"/>
          </a:xfrm>
          <a:prstGeom prst="rect">
            <a:avLst/>
          </a:prstGeom>
        </p:spPr>
      </p:pic>
      <p:sp>
        <p:nvSpPr>
          <p:cNvPr id="18" name="Shape 10"/>
          <p:cNvSpPr/>
          <p:nvPr/>
        </p:nvSpPr>
        <p:spPr>
          <a:xfrm>
            <a:off x="8483600" y="1992610"/>
            <a:ext cx="2654300" cy="2654300"/>
          </a:xfrm>
          <a:prstGeom prst="roundRect">
            <a:avLst>
              <a:gd name="adj" fmla="val 3589"/>
            </a:avLst>
          </a:prstGeom>
          <a:solidFill>
            <a:srgbClr val="FFFFFF"/>
          </a:solidFill>
          <a:ln w="12700">
            <a:solidFill>
              <a:srgbClr val="2F6F6F"/>
            </a:solidFill>
            <a:prstDash val="solid"/>
          </a:ln>
        </p:spPr>
      </p:sp>
      <p:pic>
        <p:nvPicPr>
          <p:cNvPr id="19" name="Image 6" descr="Search">    </p:cNvPr>
          <p:cNvPicPr>
            <a:picLocks noChangeAspect="1"/>
          </p:cNvPicPr>
          <p:nvPr/>
        </p:nvPicPr>
        <p:blipFill>
          <a:blip r:embed="rId7"/>
          <a:srcRect l="-796" r="-796" t="0" b="0"/>
          <a:stretch/>
        </p:blipFill>
        <p:spPr>
          <a:xfrm>
            <a:off x="8629650" y="2157164"/>
            <a:ext cx="174179" cy="177800"/>
          </a:xfrm>
          <a:prstGeom prst="rect">
            <a:avLst/>
          </a:prstGeom>
        </p:spPr>
      </p:pic>
      <p:sp>
        <p:nvSpPr>
          <p:cNvPr id="20" name="Text 11"/>
          <p:cNvSpPr/>
          <p:nvPr/>
        </p:nvSpPr>
        <p:spPr>
          <a:xfrm>
            <a:off x="8867329" y="2078434"/>
            <a:ext cx="2188257" cy="36066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1A2332"/>
                </a:solidFill>
                <a:latin typeface="IBM Plex Sans" pitchFamily="34" charset="0"/>
                <a:ea typeface="IBM Plex Sans" pitchFamily="34" charset="-122"/>
                <a:cs typeface="IBM Plex Sans" pitchFamily="34" charset="-120"/>
              </a:rPr>
              <a:t>Target discovery: the scoring loop</a:t>
            </a:r>
            <a:endParaRPr lang="en-US" sz="1100" dirty="0"/>
          </a:p>
        </p:txBody>
      </p:sp>
      <p:sp>
        <p:nvSpPr>
          <p:cNvPr id="21" name="Shape 12"/>
          <p:cNvSpPr/>
          <p:nvPr/>
        </p:nvSpPr>
        <p:spPr>
          <a:xfrm>
            <a:off x="8636000" y="2461419"/>
            <a:ext cx="1035050" cy="431800"/>
          </a:xfrm>
          <a:prstGeom prst="roundRect">
            <a:avLst>
              <a:gd name="adj" fmla="val 13235"/>
            </a:avLst>
          </a:prstGeom>
          <a:solidFill>
            <a:srgbClr val="FFFFFF"/>
          </a:solidFill>
          <a:ln w="12700">
            <a:solidFill>
              <a:srgbClr val="A89F88"/>
            </a:solidFill>
            <a:prstDash val="solid"/>
          </a:ln>
        </p:spPr>
      </p:sp>
      <p:sp>
        <p:nvSpPr>
          <p:cNvPr id="22" name="Text 13"/>
          <p:cNvSpPr/>
          <p:nvPr/>
        </p:nvSpPr>
        <p:spPr>
          <a:xfrm>
            <a:off x="8655050" y="2510631"/>
            <a:ext cx="996950" cy="358775"/>
          </a:xfrm>
          <a:prstGeom prst="rect">
            <a:avLst/>
          </a:prstGeom>
          <a:noFill/>
          <a:ln/>
        </p:spPr>
        <p:txBody>
          <a:bodyPr wrap="square" lIns="0" tIns="0" rIns="0" bIns="0" rtlCol="0" anchor="t">
            <a:normAutofit/>
          </a:bodyPr>
          <a:lstStyle/>
          <a:p>
            <a:pPr algn="ctr" indent="0" marL="0">
              <a:lnSpc>
                <a:spcPts val="875"/>
              </a:lnSpc>
              <a:buNone/>
            </a:pPr>
            <a:r>
              <a:rPr lang="en-US" sz="700" b="1" dirty="0">
                <a:solidFill>
                  <a:srgbClr val="1A2332"/>
                </a:solidFill>
                <a:latin typeface="IBM Plex Sans" pitchFamily="34" charset="0"/>
                <a:ea typeface="IBM Plex Sans" pitchFamily="34" charset="-122"/>
                <a:cs typeface="IBM Plex Sans" pitchFamily="34" charset="-120"/>
              </a:rPr>
              <a:t>Predict contact probability: reference vs. edited sequence</a:t>
            </a:r>
            <a:endParaRPr lang="en-US" sz="700" dirty="0"/>
          </a:p>
        </p:txBody>
      </p:sp>
      <p:sp>
        <p:nvSpPr>
          <p:cNvPr id="23" name="Shape 14"/>
          <p:cNvSpPr/>
          <p:nvPr/>
        </p:nvSpPr>
        <p:spPr>
          <a:xfrm>
            <a:off x="9842500" y="2461419"/>
            <a:ext cx="1168400" cy="431800"/>
          </a:xfrm>
          <a:prstGeom prst="roundRect">
            <a:avLst>
              <a:gd name="adj" fmla="val 13235"/>
            </a:avLst>
          </a:prstGeom>
          <a:solidFill>
            <a:srgbClr val="FFFFFF"/>
          </a:solidFill>
          <a:ln w="12700">
            <a:solidFill>
              <a:srgbClr val="2F6F6F"/>
            </a:solidFill>
            <a:prstDash val="solid"/>
          </a:ln>
        </p:spPr>
      </p:sp>
      <p:sp>
        <p:nvSpPr>
          <p:cNvPr id="24" name="Text 15"/>
          <p:cNvSpPr/>
          <p:nvPr/>
        </p:nvSpPr>
        <p:spPr>
          <a:xfrm>
            <a:off x="9861550" y="2566194"/>
            <a:ext cx="1130300" cy="247650"/>
          </a:xfrm>
          <a:prstGeom prst="rect">
            <a:avLst/>
          </a:prstGeom>
          <a:noFill/>
          <a:ln/>
        </p:spPr>
        <p:txBody>
          <a:bodyPr wrap="square" lIns="0" tIns="0" rIns="0" bIns="0" rtlCol="0" anchor="t">
            <a:normAutofit/>
          </a:bodyPr>
          <a:lstStyle/>
          <a:p>
            <a:pPr algn="ctr" indent="0" marL="0">
              <a:lnSpc>
                <a:spcPts val="875"/>
              </a:lnSpc>
              <a:buNone/>
            </a:pPr>
            <a:r>
              <a:rPr lang="en-US" sz="700" b="1" dirty="0">
                <a:solidFill>
                  <a:srgbClr val="2F6F6F"/>
                </a:solidFill>
                <a:latin typeface="IBM Plex Sans" pitchFamily="34" charset="0"/>
                <a:ea typeface="IBM Plex Sans" pitchFamily="34" charset="-122"/>
                <a:cs typeface="IBM Plex Sans" pitchFamily="34" charset="-120"/>
              </a:rPr>
              <a:t>Score locus: benefit − disruption</a:t>
            </a:r>
            <a:endParaRPr lang="en-US" sz="700" dirty="0"/>
          </a:p>
        </p:txBody>
      </p:sp>
      <p:sp>
        <p:nvSpPr>
          <p:cNvPr id="25" name="Shape 16"/>
          <p:cNvSpPr/>
          <p:nvPr/>
        </p:nvSpPr>
        <p:spPr>
          <a:xfrm>
            <a:off x="9842500" y="3540919"/>
            <a:ext cx="1168400" cy="431800"/>
          </a:xfrm>
          <a:prstGeom prst="roundRect">
            <a:avLst>
              <a:gd name="adj" fmla="val 13235"/>
            </a:avLst>
          </a:prstGeom>
          <a:solidFill>
            <a:srgbClr val="FFFFFF"/>
          </a:solidFill>
          <a:ln w="12700">
            <a:solidFill>
              <a:srgbClr val="A89F88"/>
            </a:solidFill>
            <a:prstDash val="solid"/>
          </a:ln>
        </p:spPr>
      </p:sp>
      <p:sp>
        <p:nvSpPr>
          <p:cNvPr id="26" name="Text 17"/>
          <p:cNvSpPr/>
          <p:nvPr/>
        </p:nvSpPr>
        <p:spPr>
          <a:xfrm>
            <a:off x="9861550" y="3645694"/>
            <a:ext cx="1130300" cy="247650"/>
          </a:xfrm>
          <a:prstGeom prst="rect">
            <a:avLst/>
          </a:prstGeom>
          <a:noFill/>
          <a:ln/>
        </p:spPr>
        <p:txBody>
          <a:bodyPr wrap="square" lIns="0" tIns="0" rIns="0" bIns="0" rtlCol="0" anchor="t">
            <a:normAutofit/>
          </a:bodyPr>
          <a:lstStyle/>
          <a:p>
            <a:pPr algn="ctr" indent="0" marL="0">
              <a:lnSpc>
                <a:spcPts val="875"/>
              </a:lnSpc>
              <a:buNone/>
            </a:pPr>
            <a:r>
              <a:rPr lang="en-US" sz="700" b="1" dirty="0">
                <a:solidFill>
                  <a:srgbClr val="1A2332"/>
                </a:solidFill>
                <a:latin typeface="IBM Plex Sans" pitchFamily="34" charset="0"/>
                <a:ea typeface="IBM Plex Sans" pitchFamily="34" charset="-122"/>
                <a:cs typeface="IBM Plex Sans" pitchFamily="34" charset="-120"/>
              </a:rPr>
              <a:t>Rank all candidate loci by score</a:t>
            </a:r>
            <a:endParaRPr lang="en-US" sz="700" dirty="0"/>
          </a:p>
        </p:txBody>
      </p:sp>
      <p:sp>
        <p:nvSpPr>
          <p:cNvPr id="27" name="Shape 18"/>
          <p:cNvSpPr/>
          <p:nvPr/>
        </p:nvSpPr>
        <p:spPr>
          <a:xfrm>
            <a:off x="8636000" y="3540919"/>
            <a:ext cx="1035050" cy="431800"/>
          </a:xfrm>
          <a:prstGeom prst="roundRect">
            <a:avLst>
              <a:gd name="adj" fmla="val 13235"/>
            </a:avLst>
          </a:prstGeom>
          <a:solidFill>
            <a:srgbClr val="FFFFFF"/>
          </a:solidFill>
          <a:ln w="12700">
            <a:solidFill>
              <a:srgbClr val="A89F88"/>
            </a:solidFill>
            <a:prstDash val="solid"/>
          </a:ln>
        </p:spPr>
      </p:sp>
      <p:sp>
        <p:nvSpPr>
          <p:cNvPr id="28" name="Text 19"/>
          <p:cNvSpPr/>
          <p:nvPr/>
        </p:nvSpPr>
        <p:spPr>
          <a:xfrm>
            <a:off x="8655050" y="3645694"/>
            <a:ext cx="996950" cy="247650"/>
          </a:xfrm>
          <a:prstGeom prst="rect">
            <a:avLst/>
          </a:prstGeom>
          <a:noFill/>
          <a:ln/>
        </p:spPr>
        <p:txBody>
          <a:bodyPr wrap="square" lIns="0" tIns="0" rIns="0" bIns="0" rtlCol="0" anchor="t">
            <a:normAutofit/>
          </a:bodyPr>
          <a:lstStyle/>
          <a:p>
            <a:pPr algn="ctr" indent="0" marL="0">
              <a:lnSpc>
                <a:spcPts val="875"/>
              </a:lnSpc>
              <a:buNone/>
            </a:pPr>
            <a:r>
              <a:rPr lang="en-US" sz="700" b="1" dirty="0">
                <a:solidFill>
                  <a:srgbClr val="1A2332"/>
                </a:solidFill>
                <a:latin typeface="IBM Plex Sans" pitchFamily="34" charset="0"/>
                <a:ea typeface="IBM Plex Sans" pitchFamily="34" charset="-122"/>
                <a:cs typeface="IBM Plex Sans" pitchFamily="34" charset="-120"/>
              </a:rPr>
              <a:t>Advance to next candidate locus</a:t>
            </a:r>
            <a:endParaRPr lang="en-US" sz="700" dirty="0"/>
          </a:p>
        </p:txBody>
      </p:sp>
      <p:pic>
        <p:nvPicPr>
          <p:cNvPr id="29" name="Image 7" descr="arrow-right">    </p:cNvPr>
          <p:cNvPicPr>
            <a:picLocks noChangeAspect="1"/>
          </p:cNvPicPr>
          <p:nvPr/>
        </p:nvPicPr>
        <p:blipFill>
          <a:blip r:embed="rId8"/>
          <a:srcRect l="0" r="0" t="0" b="0"/>
          <a:stretch/>
        </p:blipFill>
        <p:spPr>
          <a:xfrm>
            <a:off x="9690100" y="2620169"/>
            <a:ext cx="146050" cy="114300"/>
          </a:xfrm>
          <a:prstGeom prst="rect">
            <a:avLst/>
          </a:prstGeom>
        </p:spPr>
      </p:pic>
      <p:pic>
        <p:nvPicPr>
          <p:cNvPr id="30" name="Image 8" descr="arrow-down">    </p:cNvPr>
          <p:cNvPicPr>
            <a:picLocks noChangeAspect="1"/>
          </p:cNvPicPr>
          <p:nvPr/>
        </p:nvPicPr>
        <p:blipFill>
          <a:blip r:embed="rId9"/>
          <a:srcRect l="0" r="0" t="0" b="0"/>
          <a:stretch/>
        </p:blipFill>
        <p:spPr>
          <a:xfrm>
            <a:off x="10369550" y="2899569"/>
            <a:ext cx="114300" cy="635000"/>
          </a:xfrm>
          <a:prstGeom prst="rect">
            <a:avLst/>
          </a:prstGeom>
        </p:spPr>
      </p:pic>
      <p:pic>
        <p:nvPicPr>
          <p:cNvPr id="31" name="Image 9" descr="arrow-left">    </p:cNvPr>
          <p:cNvPicPr>
            <a:picLocks noChangeAspect="1"/>
          </p:cNvPicPr>
          <p:nvPr/>
        </p:nvPicPr>
        <p:blipFill>
          <a:blip r:embed="rId10"/>
          <a:srcRect l="0" r="0" t="0" b="0"/>
          <a:stretch/>
        </p:blipFill>
        <p:spPr>
          <a:xfrm>
            <a:off x="9690100" y="3699669"/>
            <a:ext cx="146050" cy="114300"/>
          </a:xfrm>
          <a:prstGeom prst="rect">
            <a:avLst/>
          </a:prstGeom>
        </p:spPr>
      </p:pic>
      <p:pic>
        <p:nvPicPr>
          <p:cNvPr id="32" name="Image 10" descr="arrow-up">    </p:cNvPr>
          <p:cNvPicPr>
            <a:picLocks noChangeAspect="1"/>
          </p:cNvPicPr>
          <p:nvPr/>
        </p:nvPicPr>
        <p:blipFill>
          <a:blip r:embed="rId11"/>
          <a:srcRect l="0" r="0" t="0" b="0"/>
          <a:stretch/>
        </p:blipFill>
        <p:spPr>
          <a:xfrm>
            <a:off x="9099550" y="2899569"/>
            <a:ext cx="114300" cy="635000"/>
          </a:xfrm>
          <a:prstGeom prst="rect">
            <a:avLst/>
          </a:prstGeom>
        </p:spPr>
      </p:pic>
      <p:sp>
        <p:nvSpPr>
          <p:cNvPr id="33" name="Text 20"/>
          <p:cNvSpPr/>
          <p:nvPr/>
        </p:nvSpPr>
        <p:spPr>
          <a:xfrm>
            <a:off x="8629650" y="4080669"/>
            <a:ext cx="2433066" cy="190202"/>
          </a:xfrm>
          <a:prstGeom prst="rect">
            <a:avLst/>
          </a:prstGeom>
          <a:noFill/>
          <a:ln/>
        </p:spPr>
        <p:txBody>
          <a:bodyPr wrap="square" lIns="0" tIns="0" rIns="0" bIns="0" rtlCol="0" anchor="t">
            <a:normAutofit/>
          </a:bodyPr>
          <a:lstStyle/>
          <a:p>
            <a:pPr algn="l" indent="0" marL="0">
              <a:lnSpc>
                <a:spcPts val="889"/>
              </a:lnSpc>
              <a:buNone/>
            </a:pPr>
            <a:r>
              <a:rPr lang="en-US" sz="659" b="1" dirty="0">
                <a:solidFill>
                  <a:srgbClr val="2F6F6F"/>
                </a:solidFill>
                <a:latin typeface="IBM Plex Sans" pitchFamily="34" charset="0"/>
                <a:ea typeface="IBM Plex Sans" pitchFamily="34" charset="-122"/>
                <a:cs typeface="IBM Plex Sans" pitchFamily="34" charset="-120"/>
              </a:rPr>
              <a:t>Score = ΔP(enhancer↔gene | edit) − ΣΔP(off-target contacts)</a:t>
            </a:r>
            <a:endParaRPr lang="en-US" sz="659" dirty="0"/>
          </a:p>
        </p:txBody>
      </p:sp>
      <p:sp>
        <p:nvSpPr>
          <p:cNvPr id="34" name="Text 21"/>
          <p:cNvSpPr/>
          <p:nvPr/>
        </p:nvSpPr>
        <p:spPr>
          <a:xfrm>
            <a:off x="8629650" y="4347071"/>
            <a:ext cx="2433066" cy="179189"/>
          </a:xfrm>
          <a:prstGeom prst="rect">
            <a:avLst/>
          </a:prstGeom>
          <a:noFill/>
          <a:ln/>
        </p:spPr>
        <p:txBody>
          <a:bodyPr wrap="square" lIns="0" tIns="0" rIns="0" bIns="0" rtlCol="0" anchor="t">
            <a:normAutofit/>
          </a:bodyPr>
          <a:lstStyle/>
          <a:p>
            <a:pPr algn="l" indent="0" marL="0">
              <a:lnSpc>
                <a:spcPts val="611"/>
              </a:lnSpc>
              <a:buNone/>
            </a:pPr>
            <a:r>
              <a:rPr lang="en-US" sz="453" dirty="0">
                <a:solidFill>
                  <a:srgbClr val="6A7179"/>
                </a:solidFill>
                <a:latin typeface="IBM Plex Sans" pitchFamily="34" charset="0"/>
                <a:ea typeface="IBM Plex Sans" pitchFamily="34" charset="-122"/>
                <a:cs typeface="IBM Plex Sans" pitchFamily="34" charset="-120"/>
              </a:rPr>
              <a:t>Highest-benefit, lowest-disruption loci rank first — the model runs once per locus, genome-wide.</a:t>
            </a:r>
            <a:endParaRPr lang="en-US" sz="453" dirty="0"/>
          </a:p>
        </p:txBody>
      </p:sp>
      <p:pic>
        <p:nvPicPr>
          <p:cNvPr id="35" name="Image 11" descr="connector">    </p:cNvPr>
          <p:cNvPicPr>
            <a:picLocks noChangeAspect="1"/>
          </p:cNvPicPr>
          <p:nvPr/>
        </p:nvPicPr>
        <p:blipFill>
          <a:blip r:embed="rId12"/>
          <a:srcRect l="0" r="0" t="0" b="0"/>
          <a:stretch/>
        </p:blipFill>
        <p:spPr>
          <a:xfrm>
            <a:off x="4489450" y="3967460"/>
            <a:ext cx="101600" cy="196850"/>
          </a:xfrm>
          <a:prstGeom prst="rect">
            <a:avLst/>
          </a:prstGeom>
        </p:spPr>
      </p:pic>
      <p:sp>
        <p:nvSpPr>
          <p:cNvPr id="36" name="Shape 22"/>
          <p:cNvSpPr/>
          <p:nvPr/>
        </p:nvSpPr>
        <p:spPr>
          <a:xfrm>
            <a:off x="3276600" y="4119860"/>
            <a:ext cx="2527300" cy="749300"/>
          </a:xfrm>
          <a:prstGeom prst="roundRect">
            <a:avLst>
              <a:gd name="adj" fmla="val 12712"/>
            </a:avLst>
          </a:prstGeom>
          <a:solidFill>
            <a:srgbClr val="E4DED0"/>
          </a:solidFill>
          <a:ln w="12700">
            <a:solidFill>
              <a:srgbClr val="A89F88"/>
            </a:solidFill>
            <a:prstDash val="solid"/>
          </a:ln>
        </p:spPr>
      </p:sp>
      <p:sp>
        <p:nvSpPr>
          <p:cNvPr id="37" name="Text 23"/>
          <p:cNvSpPr/>
          <p:nvPr/>
        </p:nvSpPr>
        <p:spPr>
          <a:xfrm>
            <a:off x="3443643" y="4325640"/>
            <a:ext cx="2193214" cy="363141"/>
          </a:xfrm>
          <a:prstGeom prst="rect">
            <a:avLst/>
          </a:prstGeom>
          <a:noFill/>
          <a:ln/>
        </p:spPr>
        <p:txBody>
          <a:bodyPr wrap="square" lIns="0" tIns="0" rIns="0" bIns="0" rtlCol="0" anchor="t">
            <a:normAutofit/>
          </a:bodyPr>
          <a:lstStyle/>
          <a:p>
            <a:pPr algn="ctr" indent="0" marL="0">
              <a:lnSpc>
                <a:spcPts val="1330"/>
              </a:lnSpc>
              <a:buNone/>
            </a:pPr>
            <a:r>
              <a:rPr lang="en-US" sz="950" b="1" dirty="0">
                <a:solidFill>
                  <a:srgbClr val="1A2332"/>
                </a:solidFill>
                <a:latin typeface="IBM Plex Sans" pitchFamily="34" charset="0"/>
                <a:ea typeface="IBM Plex Sans" pitchFamily="34" charset="-122"/>
                <a:cs typeface="IBM Plex Sans" pitchFamily="34" charset="-120"/>
              </a:rPr>
              <a:t>Hi-C / Micro-C data</a:t>
            </a:r>
            <a:endParaRPr lang="en-US" sz="950" dirty="0"/>
          </a:p>
          <a:p>
            <a:pPr algn="ctr" indent="0" marL="0">
              <a:lnSpc>
                <a:spcPts val="1330"/>
              </a:lnSpc>
              <a:buNone/>
            </a:pPr>
            <a:r>
              <a:rPr lang="en-US" sz="950" b="1" dirty="0">
                <a:solidFill>
                  <a:srgbClr val="1A2332"/>
                </a:solidFill>
                <a:latin typeface="IBM Plex Sans" pitchFamily="34" charset="0"/>
                <a:ea typeface="IBM Plex Sans" pitchFamily="34" charset="-122"/>
                <a:cs typeface="IBM Plex Sans" pitchFamily="34" charset="-120"/>
              </a:rPr>
              <a:t>(ground truth for training &amp; validation)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5482A"/>
                </a:solidFill>
                <a:latin typeface="IBM Plex Sans" pitchFamily="34" charset="0"/>
                <a:ea typeface="IBM Plex Sans" pitchFamily="34" charset="-122"/>
                <a:cs typeface="IBM Plex Sans" pitchFamily="34" charset="-120"/>
              </a:rPr>
              <a:t>MODULATORS</a:t>
            </a:r>
            <a:endParaRPr lang="en-US" sz="1300" dirty="0"/>
          </a:p>
        </p:txBody>
      </p:sp>
      <p:sp>
        <p:nvSpPr>
          <p:cNvPr id="3" name="Text 1"/>
          <p:cNvSpPr/>
          <p:nvPr/>
        </p:nvSpPr>
        <p:spPr>
          <a:xfrm>
            <a:off x="812800" y="1043930"/>
            <a:ext cx="10883392" cy="421630"/>
          </a:xfrm>
          <a:prstGeom prst="rect">
            <a:avLst/>
          </a:prstGeom>
          <a:noFill/>
          <a:ln/>
        </p:spPr>
        <p:txBody>
          <a:bodyPr wrap="none" lIns="0" tIns="0" rIns="0" bIns="0" rtlCol="0" anchor="t">
            <a:normAutofit/>
          </a:bodyPr>
          <a:lstStyle/>
          <a:p>
            <a:pPr algn="l" indent="0" marL="0">
              <a:lnSpc>
                <a:spcPts val="3120"/>
              </a:lnSpc>
              <a:buNone/>
            </a:pPr>
            <a:r>
              <a:rPr lang="en-US" sz="2600" b="1" dirty="0">
                <a:solidFill>
                  <a:srgbClr val="1A2332"/>
                </a:solidFill>
                <a:latin typeface="Space Grotesk" pitchFamily="34" charset="0"/>
                <a:ea typeface="Space Grotesk" pitchFamily="34" charset="-122"/>
                <a:cs typeface="Space Grotesk" pitchFamily="34" charset="-120"/>
              </a:rPr>
              <a:t>Stapling strategies.</a:t>
            </a:r>
            <a:endParaRPr lang="en-US" sz="2600" dirty="0"/>
          </a:p>
        </p:txBody>
      </p:sp>
      <p:sp>
        <p:nvSpPr>
          <p:cNvPr id="4" name="Shape 2"/>
          <p:cNvSpPr/>
          <p:nvPr/>
        </p:nvSpPr>
        <p:spPr>
          <a:xfrm>
            <a:off x="819150" y="1624310"/>
            <a:ext cx="3403600" cy="1828800"/>
          </a:xfrm>
          <a:prstGeom prst="roundRect">
            <a:avLst>
              <a:gd name="adj" fmla="val 5208"/>
            </a:avLst>
          </a:prstGeom>
          <a:solidFill>
            <a:srgbClr val="FFFFFF"/>
          </a:solidFill>
          <a:ln w="12700">
            <a:solidFill>
              <a:srgbClr val="D8D3C8"/>
            </a:solidFill>
            <a:prstDash val="solid"/>
          </a:ln>
        </p:spPr>
      </p:sp>
      <p:sp>
        <p:nvSpPr>
          <p:cNvPr id="5" name="Text 3"/>
          <p:cNvSpPr/>
          <p:nvPr/>
        </p:nvSpPr>
        <p:spPr>
          <a:xfrm>
            <a:off x="1003300" y="18084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dCas9 / dCas12a molecular staples</a:t>
            </a:r>
            <a:endParaRPr lang="en-US" sz="1300" dirty="0"/>
          </a:p>
        </p:txBody>
      </p:sp>
      <p:sp>
        <p:nvSpPr>
          <p:cNvPr id="6" name="Text 4"/>
          <p:cNvSpPr/>
          <p:nvPr/>
        </p:nvSpPr>
        <p:spPr>
          <a:xfrm>
            <a:off x="1003300" y="20827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Paired catalytically-dead Cas proteins, each guided by its own sgRNA and fused to interacting peptide domains, pull two loci together (PICasSO, CLOuD9).</a:t>
            </a:r>
            <a:endParaRPr lang="en-US" sz="950" dirty="0"/>
          </a:p>
        </p:txBody>
      </p:sp>
      <p:sp>
        <p:nvSpPr>
          <p:cNvPr id="7" name="Text 5"/>
          <p:cNvSpPr/>
          <p:nvPr/>
        </p:nvSpPr>
        <p:spPr>
          <a:xfrm>
            <a:off x="1003300" y="31089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2F6F6F"/>
                </a:solidFill>
                <a:latin typeface="IBM Plex Sans" pitchFamily="34" charset="0"/>
                <a:ea typeface="IBM Plex Sans" pitchFamily="34" charset="-122"/>
                <a:cs typeface="IBM Plex Sans" pitchFamily="34" charset="-120"/>
              </a:rPr>
              <a:t>Reversible</a:t>
            </a:r>
            <a:endParaRPr lang="en-US" sz="900" dirty="0"/>
          </a:p>
        </p:txBody>
      </p:sp>
      <p:sp>
        <p:nvSpPr>
          <p:cNvPr id="8" name="Shape 6"/>
          <p:cNvSpPr/>
          <p:nvPr/>
        </p:nvSpPr>
        <p:spPr>
          <a:xfrm>
            <a:off x="4387850" y="1624310"/>
            <a:ext cx="3403600" cy="1828800"/>
          </a:xfrm>
          <a:prstGeom prst="roundRect">
            <a:avLst>
              <a:gd name="adj" fmla="val 5208"/>
            </a:avLst>
          </a:prstGeom>
          <a:solidFill>
            <a:srgbClr val="FFFFFF"/>
          </a:solidFill>
          <a:ln w="12700">
            <a:solidFill>
              <a:srgbClr val="D8D3C8"/>
            </a:solidFill>
            <a:prstDash val="solid"/>
          </a:ln>
        </p:spPr>
      </p:sp>
      <p:sp>
        <p:nvSpPr>
          <p:cNvPr id="9" name="Text 7"/>
          <p:cNvSpPr/>
          <p:nvPr/>
        </p:nvSpPr>
        <p:spPr>
          <a:xfrm>
            <a:off x="4572000" y="18084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Zinc finger – Ldb1 tethering</a:t>
            </a:r>
            <a:endParaRPr lang="en-US" sz="1300" dirty="0"/>
          </a:p>
        </p:txBody>
      </p:sp>
      <p:sp>
        <p:nvSpPr>
          <p:cNvPr id="10" name="Text 8"/>
          <p:cNvSpPr/>
          <p:nvPr/>
        </p:nvSpPr>
        <p:spPr>
          <a:xfrm>
            <a:off x="4572000" y="20827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A programmable zinc-finger DNA-binding domain fused to the natural looping factor Ldb1, forcing contact at an endogenous gene (Deng et al. 2012).</a:t>
            </a:r>
            <a:endParaRPr lang="en-US" sz="950" dirty="0"/>
          </a:p>
        </p:txBody>
      </p:sp>
      <p:sp>
        <p:nvSpPr>
          <p:cNvPr id="11" name="Text 9"/>
          <p:cNvSpPr/>
          <p:nvPr/>
        </p:nvSpPr>
        <p:spPr>
          <a:xfrm>
            <a:off x="4572000" y="31089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2F6F6F"/>
                </a:solidFill>
                <a:latin typeface="IBM Plex Sans" pitchFamily="34" charset="0"/>
                <a:ea typeface="IBM Plex Sans" pitchFamily="34" charset="-122"/>
                <a:cs typeface="IBM Plex Sans" pitchFamily="34" charset="-120"/>
              </a:rPr>
              <a:t>Reversible</a:t>
            </a:r>
            <a:endParaRPr lang="en-US" sz="900" dirty="0"/>
          </a:p>
        </p:txBody>
      </p:sp>
      <p:sp>
        <p:nvSpPr>
          <p:cNvPr id="12" name="Shape 10"/>
          <p:cNvSpPr/>
          <p:nvPr/>
        </p:nvSpPr>
        <p:spPr>
          <a:xfrm>
            <a:off x="7956550" y="1624310"/>
            <a:ext cx="3403600" cy="1828800"/>
          </a:xfrm>
          <a:prstGeom prst="roundRect">
            <a:avLst>
              <a:gd name="adj" fmla="val 5208"/>
            </a:avLst>
          </a:prstGeom>
          <a:solidFill>
            <a:srgbClr val="FFFFFF"/>
          </a:solidFill>
          <a:ln w="12700">
            <a:solidFill>
              <a:srgbClr val="D8D3C8"/>
            </a:solidFill>
            <a:prstDash val="solid"/>
          </a:ln>
        </p:spPr>
      </p:sp>
      <p:sp>
        <p:nvSpPr>
          <p:cNvPr id="13" name="Text 11"/>
          <p:cNvSpPr/>
          <p:nvPr/>
        </p:nvSpPr>
        <p:spPr>
          <a:xfrm>
            <a:off x="8140700" y="18084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Engineered LDB1 networks</a:t>
            </a:r>
            <a:endParaRPr lang="en-US" sz="1300" dirty="0"/>
          </a:p>
        </p:txBody>
      </p:sp>
      <p:sp>
        <p:nvSpPr>
          <p:cNvPr id="14" name="Text 12"/>
          <p:cNvSpPr/>
          <p:nvPr/>
        </p:nvSpPr>
        <p:spPr>
          <a:xfrm>
            <a:off x="8140700" y="20827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LDB1 self-associates to link multiple enhancers to a promoter, independently of CTCF and cohesin (Aboreden et al. 2024).</a:t>
            </a:r>
            <a:endParaRPr lang="en-US" sz="950" dirty="0"/>
          </a:p>
        </p:txBody>
      </p:sp>
      <p:sp>
        <p:nvSpPr>
          <p:cNvPr id="15" name="Text 13"/>
          <p:cNvSpPr/>
          <p:nvPr/>
        </p:nvSpPr>
        <p:spPr>
          <a:xfrm>
            <a:off x="8140700" y="31089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2F6F6F"/>
                </a:solidFill>
                <a:latin typeface="IBM Plex Sans" pitchFamily="34" charset="0"/>
                <a:ea typeface="IBM Plex Sans" pitchFamily="34" charset="-122"/>
                <a:cs typeface="IBM Plex Sans" pitchFamily="34" charset="-120"/>
              </a:rPr>
              <a:t>Reversible</a:t>
            </a:r>
            <a:endParaRPr lang="en-US" sz="900" dirty="0"/>
          </a:p>
        </p:txBody>
      </p:sp>
      <p:sp>
        <p:nvSpPr>
          <p:cNvPr id="16" name="Shape 14"/>
          <p:cNvSpPr/>
          <p:nvPr/>
        </p:nvSpPr>
        <p:spPr>
          <a:xfrm>
            <a:off x="819150" y="3643610"/>
            <a:ext cx="3403600" cy="1828800"/>
          </a:xfrm>
          <a:prstGeom prst="roundRect">
            <a:avLst>
              <a:gd name="adj" fmla="val 5208"/>
            </a:avLst>
          </a:prstGeom>
          <a:solidFill>
            <a:srgbClr val="FFFFFF"/>
          </a:solidFill>
          <a:ln w="12700">
            <a:solidFill>
              <a:srgbClr val="D8D3C8"/>
            </a:solidFill>
            <a:prstDash val="solid"/>
          </a:ln>
        </p:spPr>
      </p:sp>
      <p:sp>
        <p:nvSpPr>
          <p:cNvPr id="17" name="Text 15"/>
          <p:cNvSpPr/>
          <p:nvPr/>
        </p:nvSpPr>
        <p:spPr>
          <a:xfrm>
            <a:off x="1003300" y="38277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CRISPR-GO</a:t>
            </a:r>
            <a:endParaRPr lang="en-US" sz="1300" dirty="0"/>
          </a:p>
        </p:txBody>
      </p:sp>
      <p:sp>
        <p:nvSpPr>
          <p:cNvPr id="18" name="Text 16"/>
          <p:cNvSpPr/>
          <p:nvPr/>
        </p:nvSpPr>
        <p:spPr>
          <a:xfrm>
            <a:off x="1003300" y="41020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dCas9 pairs plus a chemically-inducible dimerizer bring one locus into contact with another locus or a nuclear body (Wang et al. 2018).</a:t>
            </a:r>
            <a:endParaRPr lang="en-US" sz="950" dirty="0"/>
          </a:p>
        </p:txBody>
      </p:sp>
      <p:sp>
        <p:nvSpPr>
          <p:cNvPr id="19" name="Text 17"/>
          <p:cNvSpPr/>
          <p:nvPr/>
        </p:nvSpPr>
        <p:spPr>
          <a:xfrm>
            <a:off x="1003300" y="51282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2F6F6F"/>
                </a:solidFill>
                <a:latin typeface="IBM Plex Sans" pitchFamily="34" charset="0"/>
                <a:ea typeface="IBM Plex Sans" pitchFamily="34" charset="-122"/>
                <a:cs typeface="IBM Plex Sans" pitchFamily="34" charset="-120"/>
              </a:rPr>
              <a:t>Reversible — drug on/off</a:t>
            </a:r>
            <a:endParaRPr lang="en-US" sz="900" dirty="0"/>
          </a:p>
        </p:txBody>
      </p:sp>
      <p:sp>
        <p:nvSpPr>
          <p:cNvPr id="20" name="Shape 18"/>
          <p:cNvSpPr/>
          <p:nvPr/>
        </p:nvSpPr>
        <p:spPr>
          <a:xfrm>
            <a:off x="4387850" y="3643610"/>
            <a:ext cx="3403600" cy="1828800"/>
          </a:xfrm>
          <a:prstGeom prst="roundRect">
            <a:avLst>
              <a:gd name="adj" fmla="val 5208"/>
            </a:avLst>
          </a:prstGeom>
          <a:solidFill>
            <a:srgbClr val="FFFFFF"/>
          </a:solidFill>
          <a:ln w="12700">
            <a:solidFill>
              <a:srgbClr val="D8D3C8"/>
            </a:solidFill>
            <a:prstDash val="solid"/>
          </a:ln>
        </p:spPr>
      </p:sp>
      <p:sp>
        <p:nvSpPr>
          <p:cNvPr id="21" name="Text 19"/>
          <p:cNvSpPr/>
          <p:nvPr/>
        </p:nvSpPr>
        <p:spPr>
          <a:xfrm>
            <a:off x="4572000" y="38277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LADL (light-activated looping)</a:t>
            </a:r>
            <a:endParaRPr lang="en-US" sz="1300" dirty="0"/>
          </a:p>
        </p:txBody>
      </p:sp>
      <p:sp>
        <p:nvSpPr>
          <p:cNvPr id="22" name="Text 20"/>
          <p:cNvSpPr/>
          <p:nvPr/>
        </p:nvSpPr>
        <p:spPr>
          <a:xfrm>
            <a:off x="4572000" y="41020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Blue-light-induced CRY2–CIBN dimerization recruits an architectural protein to force a loop on demand (Kim et al. 2019).</a:t>
            </a:r>
            <a:endParaRPr lang="en-US" sz="950" dirty="0"/>
          </a:p>
        </p:txBody>
      </p:sp>
      <p:sp>
        <p:nvSpPr>
          <p:cNvPr id="23" name="Text 21"/>
          <p:cNvSpPr/>
          <p:nvPr/>
        </p:nvSpPr>
        <p:spPr>
          <a:xfrm>
            <a:off x="4572000" y="51282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2F6F6F"/>
                </a:solidFill>
                <a:latin typeface="IBM Plex Sans" pitchFamily="34" charset="0"/>
                <a:ea typeface="IBM Plex Sans" pitchFamily="34" charset="-122"/>
                <a:cs typeface="IBM Plex Sans" pitchFamily="34" charset="-120"/>
              </a:rPr>
              <a:t>Reversible — light on/off</a:t>
            </a:r>
            <a:endParaRPr lang="en-US" sz="900" dirty="0"/>
          </a:p>
        </p:txBody>
      </p:sp>
      <p:sp>
        <p:nvSpPr>
          <p:cNvPr id="24" name="Shape 22"/>
          <p:cNvSpPr/>
          <p:nvPr/>
        </p:nvSpPr>
        <p:spPr>
          <a:xfrm>
            <a:off x="7956550" y="3643610"/>
            <a:ext cx="3403600" cy="1828800"/>
          </a:xfrm>
          <a:prstGeom prst="roundRect">
            <a:avLst>
              <a:gd name="adj" fmla="val 5208"/>
            </a:avLst>
          </a:prstGeom>
          <a:solidFill>
            <a:srgbClr val="E4DED0"/>
          </a:solidFill>
          <a:ln w="12700">
            <a:solidFill>
              <a:srgbClr val="A89F88"/>
            </a:solidFill>
            <a:prstDash val="solid"/>
          </a:ln>
        </p:spPr>
      </p:sp>
      <p:sp>
        <p:nvSpPr>
          <p:cNvPr id="25" name="Text 23"/>
          <p:cNvSpPr/>
          <p:nvPr/>
        </p:nvSpPr>
        <p:spPr>
          <a:xfrm>
            <a:off x="8140700" y="3827760"/>
            <a:ext cx="312635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2332"/>
                </a:solidFill>
                <a:latin typeface="IBM Plex Sans" pitchFamily="34" charset="0"/>
                <a:ea typeface="IBM Plex Sans" pitchFamily="34" charset="-122"/>
                <a:cs typeface="IBM Plex Sans" pitchFamily="34" charset="-120"/>
              </a:rPr>
              <a:t>Nuclease-induced translocation</a:t>
            </a:r>
            <a:endParaRPr lang="en-US" sz="1300" dirty="0"/>
          </a:p>
        </p:txBody>
      </p:sp>
      <p:sp>
        <p:nvSpPr>
          <p:cNvPr id="26" name="Text 24"/>
          <p:cNvSpPr/>
          <p:nvPr/>
        </p:nvSpPr>
        <p:spPr>
          <a:xfrm>
            <a:off x="8140700" y="4102050"/>
            <a:ext cx="3126359" cy="97542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568"/>
                </a:solidFill>
                <a:latin typeface="IBM Plex Sans" pitchFamily="34" charset="0"/>
                <a:ea typeface="IBM Plex Sans" pitchFamily="34" charset="-122"/>
                <a:cs typeface="IBM Plex Sans" pitchFamily="34" charset="-120"/>
              </a:rPr>
              <a:t>ZFNs, TALENs or Cas9 cut both loci; NHEJ repair physically fuses them into one chromosome (Piganeau et al. 2013).</a:t>
            </a:r>
            <a:endParaRPr lang="en-US" sz="950" dirty="0"/>
          </a:p>
        </p:txBody>
      </p:sp>
      <p:sp>
        <p:nvSpPr>
          <p:cNvPr id="27" name="Text 25"/>
          <p:cNvSpPr/>
          <p:nvPr/>
        </p:nvSpPr>
        <p:spPr>
          <a:xfrm>
            <a:off x="8140700" y="5128270"/>
            <a:ext cx="3126359" cy="185390"/>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6A7179"/>
                </a:solidFill>
                <a:latin typeface="IBM Plex Sans" pitchFamily="34" charset="0"/>
                <a:ea typeface="IBM Plex Sans" pitchFamily="34" charset="-122"/>
                <a:cs typeface="IBM Plex Sans" pitchFamily="34" charset="-120"/>
              </a:rPr>
              <a:t>Permanent — models disease translocations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B5482A"/>
                </a:solidFill>
                <a:latin typeface="IBM Plex Sans" pitchFamily="34" charset="0"/>
                <a:ea typeface="IBM Plex Sans" pitchFamily="34" charset="-122"/>
                <a:cs typeface="IBM Plex Sans" pitchFamily="34" charset="-120"/>
              </a:rPr>
              <a:t>REVERSIBILITY</a:t>
            </a:r>
            <a:endParaRPr lang="en-US" sz="1300" dirty="0"/>
          </a:p>
        </p:txBody>
      </p:sp>
      <p:sp>
        <p:nvSpPr>
          <p:cNvPr id="3" name="Text 1"/>
          <p:cNvSpPr/>
          <p:nvPr/>
        </p:nvSpPr>
        <p:spPr>
          <a:xfrm>
            <a:off x="812800" y="1043930"/>
            <a:ext cx="10883392"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A2332"/>
                </a:solidFill>
                <a:latin typeface="Space Grotesk" pitchFamily="34" charset="0"/>
                <a:ea typeface="Space Grotesk" pitchFamily="34" charset="-122"/>
                <a:cs typeface="Space Grotesk" pitchFamily="34" charset="-120"/>
              </a:rPr>
              <a:t>Reversibility strategies.</a:t>
            </a:r>
            <a:endParaRPr lang="en-US" sz="2600" dirty="0"/>
          </a:p>
        </p:txBody>
      </p:sp>
      <p:sp>
        <p:nvSpPr>
          <p:cNvPr id="4" name="Shape 2"/>
          <p:cNvSpPr/>
          <p:nvPr/>
        </p:nvSpPr>
        <p:spPr>
          <a:xfrm>
            <a:off x="819150" y="1675110"/>
            <a:ext cx="5105400" cy="1959620"/>
          </a:xfrm>
          <a:prstGeom prst="roundRect">
            <a:avLst>
              <a:gd name="adj" fmla="val 4861"/>
            </a:avLst>
          </a:prstGeom>
          <a:solidFill>
            <a:srgbClr val="FFFFFF"/>
          </a:solidFill>
          <a:ln w="12700">
            <a:solidFill>
              <a:srgbClr val="D8D3C8"/>
            </a:solidFill>
            <a:prstDash val="solid"/>
          </a:ln>
        </p:spPr>
      </p:sp>
      <p:pic>
        <p:nvPicPr>
          <p:cNvPr id="5" name="Image 0" descr="Key">    </p:cNvPr>
          <p:cNvPicPr>
            <a:picLocks noChangeAspect="1"/>
          </p:cNvPicPr>
          <p:nvPr/>
        </p:nvPicPr>
        <p:blipFill>
          <a:blip r:embed="rId1"/>
          <a:srcRect l="0" r="0" t="0" b="0"/>
          <a:stretch/>
        </p:blipFill>
        <p:spPr>
          <a:xfrm>
            <a:off x="1028700" y="1884660"/>
            <a:ext cx="228600" cy="228600"/>
          </a:xfrm>
          <a:prstGeom prst="rect">
            <a:avLst/>
          </a:prstGeom>
        </p:spPr>
      </p:pic>
      <p:sp>
        <p:nvSpPr>
          <p:cNvPr id="6" name="Text 3"/>
          <p:cNvSpPr/>
          <p:nvPr/>
        </p:nvSpPr>
        <p:spPr>
          <a:xfrm>
            <a:off x="1028700" y="2202160"/>
            <a:ext cx="48268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2332"/>
                </a:solidFill>
                <a:latin typeface="IBM Plex Sans" pitchFamily="34" charset="0"/>
                <a:ea typeface="IBM Plex Sans" pitchFamily="34" charset="-122"/>
                <a:cs typeface="IBM Plex Sans" pitchFamily="34" charset="-120"/>
              </a:rPr>
              <a:t>Chemically-induced dimerization</a:t>
            </a:r>
            <a:endParaRPr lang="en-US" sz="1400" dirty="0"/>
          </a:p>
        </p:txBody>
      </p:sp>
      <p:sp>
        <p:nvSpPr>
          <p:cNvPr id="7" name="Text 4"/>
          <p:cNvSpPr/>
          <p:nvPr/>
        </p:nvSpPr>
        <p:spPr>
          <a:xfrm>
            <a:off x="1028700" y="2504380"/>
            <a:ext cx="4826889" cy="946200"/>
          </a:xfrm>
          <a:prstGeom prst="rect">
            <a:avLst/>
          </a:prstGeom>
          <a:noFill/>
          <a:ln/>
        </p:spPr>
        <p:txBody>
          <a:bodyPr wrap="square" lIns="0" tIns="0" rIns="0" bIns="0" rtlCol="0" anchor="t">
            <a:normAutofit/>
          </a:bodyPr>
          <a:lstStyle/>
          <a:p>
            <a:pPr algn="l" indent="0" marL="0">
              <a:lnSpc>
                <a:spcPts val="1450"/>
              </a:lnSpc>
              <a:buNone/>
            </a:pPr>
            <a:r>
              <a:rPr lang="en-US" sz="1000" dirty="0">
                <a:solidFill>
                  <a:srgbClr val="4A5568"/>
                </a:solidFill>
                <a:latin typeface="IBM Plex Sans" pitchFamily="34" charset="0"/>
                <a:ea typeface="IBM Plex Sans" pitchFamily="34" charset="-122"/>
                <a:cs typeface="IBM Plex Sans" pitchFamily="34" charset="-120"/>
              </a:rPr>
              <a:t>Rapamycin (FKBP–FRB), abscisic acid (PYL–ABI) or gibberellin (GID1–GAI): add the small molecule to form the staple, wash it out and the loop dissolves within hours.</a:t>
            </a:r>
            <a:endParaRPr lang="en-US" sz="1000" dirty="0"/>
          </a:p>
        </p:txBody>
      </p:sp>
      <p:sp>
        <p:nvSpPr>
          <p:cNvPr id="8" name="Shape 5"/>
          <p:cNvSpPr/>
          <p:nvPr/>
        </p:nvSpPr>
        <p:spPr>
          <a:xfrm>
            <a:off x="6089650" y="1675110"/>
            <a:ext cx="5105400" cy="1959620"/>
          </a:xfrm>
          <a:prstGeom prst="roundRect">
            <a:avLst>
              <a:gd name="adj" fmla="val 4861"/>
            </a:avLst>
          </a:prstGeom>
          <a:solidFill>
            <a:srgbClr val="FFFFFF"/>
          </a:solidFill>
          <a:ln w="12700">
            <a:solidFill>
              <a:srgbClr val="D8D3C8"/>
            </a:solidFill>
            <a:prstDash val="solid"/>
          </a:ln>
        </p:spPr>
      </p:sp>
      <p:pic>
        <p:nvPicPr>
          <p:cNvPr id="9" name="Image 1" descr="Lightning">    </p:cNvPr>
          <p:cNvPicPr>
            <a:picLocks noChangeAspect="1"/>
          </p:cNvPicPr>
          <p:nvPr/>
        </p:nvPicPr>
        <p:blipFill>
          <a:blip r:embed="rId2"/>
          <a:srcRect l="0" r="0" t="0" b="0"/>
          <a:stretch/>
        </p:blipFill>
        <p:spPr>
          <a:xfrm>
            <a:off x="6299200" y="1884660"/>
            <a:ext cx="228600" cy="228600"/>
          </a:xfrm>
          <a:prstGeom prst="rect">
            <a:avLst/>
          </a:prstGeom>
        </p:spPr>
      </p:pic>
      <p:sp>
        <p:nvSpPr>
          <p:cNvPr id="10" name="Text 6"/>
          <p:cNvSpPr/>
          <p:nvPr/>
        </p:nvSpPr>
        <p:spPr>
          <a:xfrm>
            <a:off x="6299200" y="2202160"/>
            <a:ext cx="48268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2332"/>
                </a:solidFill>
                <a:latin typeface="IBM Plex Sans" pitchFamily="34" charset="0"/>
                <a:ea typeface="IBM Plex Sans" pitchFamily="34" charset="-122"/>
                <a:cs typeface="IBM Plex Sans" pitchFamily="34" charset="-120"/>
              </a:rPr>
              <a:t>Optogenetics (LADL, CRY2–CIBN)</a:t>
            </a:r>
            <a:endParaRPr lang="en-US" sz="1400" dirty="0"/>
          </a:p>
        </p:txBody>
      </p:sp>
      <p:sp>
        <p:nvSpPr>
          <p:cNvPr id="11" name="Text 7"/>
          <p:cNvSpPr/>
          <p:nvPr/>
        </p:nvSpPr>
        <p:spPr>
          <a:xfrm>
            <a:off x="6299200" y="2504380"/>
            <a:ext cx="4826889" cy="946200"/>
          </a:xfrm>
          <a:prstGeom prst="rect">
            <a:avLst/>
          </a:prstGeom>
          <a:noFill/>
          <a:ln/>
        </p:spPr>
        <p:txBody>
          <a:bodyPr wrap="square" lIns="0" tIns="0" rIns="0" bIns="0" rtlCol="0" anchor="t">
            <a:normAutofit/>
          </a:bodyPr>
          <a:lstStyle/>
          <a:p>
            <a:pPr algn="l" indent="0" marL="0">
              <a:lnSpc>
                <a:spcPts val="1450"/>
              </a:lnSpc>
              <a:buNone/>
            </a:pPr>
            <a:r>
              <a:rPr lang="en-US" sz="1000" dirty="0">
                <a:solidFill>
                  <a:srgbClr val="4A5568"/>
                </a:solidFill>
                <a:latin typeface="IBM Plex Sans" pitchFamily="34" charset="0"/>
                <a:ea typeface="IBM Plex Sans" pitchFamily="34" charset="-122"/>
                <a:cs typeface="IBM Plex Sans" pitchFamily="34" charset="-120"/>
              </a:rPr>
              <a:t>Blue light drives the staple together; the loop decays within minutes once the light is off — the fastest and most tunable switch of the four (Kim et al. 2019).</a:t>
            </a:r>
            <a:endParaRPr lang="en-US" sz="1000" dirty="0"/>
          </a:p>
        </p:txBody>
      </p:sp>
      <p:sp>
        <p:nvSpPr>
          <p:cNvPr id="12" name="Shape 8"/>
          <p:cNvSpPr/>
          <p:nvPr/>
        </p:nvSpPr>
        <p:spPr>
          <a:xfrm>
            <a:off x="819150" y="3876030"/>
            <a:ext cx="5105400" cy="1959620"/>
          </a:xfrm>
          <a:prstGeom prst="roundRect">
            <a:avLst>
              <a:gd name="adj" fmla="val 4861"/>
            </a:avLst>
          </a:prstGeom>
          <a:solidFill>
            <a:srgbClr val="FFFFFF"/>
          </a:solidFill>
          <a:ln w="12700">
            <a:solidFill>
              <a:srgbClr val="D8D3C8"/>
            </a:solidFill>
            <a:prstDash val="solid"/>
          </a:ln>
        </p:spPr>
      </p:sp>
      <p:pic>
        <p:nvPicPr>
          <p:cNvPr id="13" name="Image 2" descr="Clock">    </p:cNvPr>
          <p:cNvPicPr>
            <a:picLocks noChangeAspect="1"/>
          </p:cNvPicPr>
          <p:nvPr/>
        </p:nvPicPr>
        <p:blipFill>
          <a:blip r:embed="rId3"/>
          <a:srcRect l="0" r="0" t="0" b="0"/>
          <a:stretch/>
        </p:blipFill>
        <p:spPr>
          <a:xfrm>
            <a:off x="1028700" y="4085580"/>
            <a:ext cx="228600" cy="228600"/>
          </a:xfrm>
          <a:prstGeom prst="rect">
            <a:avLst/>
          </a:prstGeom>
        </p:spPr>
      </p:pic>
      <p:sp>
        <p:nvSpPr>
          <p:cNvPr id="14" name="Text 9"/>
          <p:cNvSpPr/>
          <p:nvPr/>
        </p:nvSpPr>
        <p:spPr>
          <a:xfrm>
            <a:off x="1028700" y="4403080"/>
            <a:ext cx="48268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2332"/>
                </a:solidFill>
                <a:latin typeface="IBM Plex Sans" pitchFamily="34" charset="0"/>
                <a:ea typeface="IBM Plex Sans" pitchFamily="34" charset="-122"/>
                <a:cs typeface="IBM Plex Sans" pitchFamily="34" charset="-120"/>
              </a:rPr>
              <a:t>Auxin-inducible degron (AID)</a:t>
            </a:r>
            <a:endParaRPr lang="en-US" sz="1400" dirty="0"/>
          </a:p>
        </p:txBody>
      </p:sp>
      <p:sp>
        <p:nvSpPr>
          <p:cNvPr id="15" name="Text 10"/>
          <p:cNvSpPr/>
          <p:nvPr/>
        </p:nvSpPr>
        <p:spPr>
          <a:xfrm>
            <a:off x="1028700" y="4705300"/>
            <a:ext cx="4826889" cy="946200"/>
          </a:xfrm>
          <a:prstGeom prst="rect">
            <a:avLst/>
          </a:prstGeom>
          <a:noFill/>
          <a:ln/>
        </p:spPr>
        <p:txBody>
          <a:bodyPr wrap="square" lIns="0" tIns="0" rIns="0" bIns="0" rtlCol="0" anchor="t">
            <a:normAutofit/>
          </a:bodyPr>
          <a:lstStyle/>
          <a:p>
            <a:pPr algn="l" indent="0" marL="0">
              <a:lnSpc>
                <a:spcPts val="1450"/>
              </a:lnSpc>
              <a:buNone/>
            </a:pPr>
            <a:r>
              <a:rPr lang="en-US" sz="1000" dirty="0">
                <a:solidFill>
                  <a:srgbClr val="4A5568"/>
                </a:solidFill>
                <a:latin typeface="IBM Plex Sans" pitchFamily="34" charset="0"/>
                <a:ea typeface="IBM Plex Sans" pitchFamily="34" charset="-122"/>
                <a:cs typeface="IBM Plex Sans" pitchFamily="34" charset="-120"/>
              </a:rPr>
              <a:t>Degrade the loop-anchoring factor itself (e.g. CTCF) on demand; the loop collapses, then re-forms once the protein is restored (Kubo et al. 2021).</a:t>
            </a:r>
            <a:endParaRPr lang="en-US" sz="1000" dirty="0"/>
          </a:p>
        </p:txBody>
      </p:sp>
      <p:sp>
        <p:nvSpPr>
          <p:cNvPr id="16" name="Shape 11"/>
          <p:cNvSpPr/>
          <p:nvPr/>
        </p:nvSpPr>
        <p:spPr>
          <a:xfrm>
            <a:off x="6089650" y="3876030"/>
            <a:ext cx="5105400" cy="1959620"/>
          </a:xfrm>
          <a:prstGeom prst="roundRect">
            <a:avLst>
              <a:gd name="adj" fmla="val 4861"/>
            </a:avLst>
          </a:prstGeom>
          <a:solidFill>
            <a:srgbClr val="FFFFFF"/>
          </a:solidFill>
          <a:ln w="12700">
            <a:solidFill>
              <a:srgbClr val="D8D3C8"/>
            </a:solidFill>
            <a:prstDash val="solid"/>
          </a:ln>
        </p:spPr>
      </p:sp>
      <p:pic>
        <p:nvPicPr>
          <p:cNvPr id="17" name="Image 3" descr="Verified">    </p:cNvPr>
          <p:cNvPicPr>
            <a:picLocks noChangeAspect="1"/>
          </p:cNvPicPr>
          <p:nvPr/>
        </p:nvPicPr>
        <p:blipFill>
          <a:blip r:embed="rId4"/>
          <a:srcRect l="0" r="0" t="0" b="0"/>
          <a:stretch/>
        </p:blipFill>
        <p:spPr>
          <a:xfrm>
            <a:off x="6299200" y="4085580"/>
            <a:ext cx="228600" cy="228600"/>
          </a:xfrm>
          <a:prstGeom prst="rect">
            <a:avLst/>
          </a:prstGeom>
        </p:spPr>
      </p:pic>
      <p:sp>
        <p:nvSpPr>
          <p:cNvPr id="18" name="Text 12"/>
          <p:cNvSpPr/>
          <p:nvPr/>
        </p:nvSpPr>
        <p:spPr>
          <a:xfrm>
            <a:off x="6299200" y="4403080"/>
            <a:ext cx="48268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2332"/>
                </a:solidFill>
                <a:latin typeface="IBM Plex Sans" pitchFamily="34" charset="0"/>
                <a:ea typeface="IBM Plex Sans" pitchFamily="34" charset="-122"/>
                <a:cs typeface="IBM Plex Sans" pitchFamily="34" charset="-120"/>
              </a:rPr>
              <a:t>Orthogonal chemical inducers</a:t>
            </a:r>
            <a:endParaRPr lang="en-US" sz="1400" dirty="0"/>
          </a:p>
        </p:txBody>
      </p:sp>
      <p:sp>
        <p:nvSpPr>
          <p:cNvPr id="19" name="Text 13"/>
          <p:cNvSpPr/>
          <p:nvPr/>
        </p:nvSpPr>
        <p:spPr>
          <a:xfrm>
            <a:off x="6299200" y="4705300"/>
            <a:ext cx="4826889" cy="946200"/>
          </a:xfrm>
          <a:prstGeom prst="rect">
            <a:avLst/>
          </a:prstGeom>
          <a:noFill/>
          <a:ln/>
        </p:spPr>
        <p:txBody>
          <a:bodyPr wrap="square" lIns="0" tIns="0" rIns="0" bIns="0" rtlCol="0" anchor="t">
            <a:normAutofit/>
          </a:bodyPr>
          <a:lstStyle/>
          <a:p>
            <a:pPr algn="l" indent="0" marL="0">
              <a:lnSpc>
                <a:spcPts val="1450"/>
              </a:lnSpc>
              <a:buNone/>
            </a:pPr>
            <a:r>
              <a:rPr lang="en-US" sz="1000" dirty="0">
                <a:solidFill>
                  <a:srgbClr val="4A5568"/>
                </a:solidFill>
                <a:latin typeface="IBM Plex Sans" pitchFamily="34" charset="0"/>
                <a:ea typeface="IBM Plex Sans" pitchFamily="34" charset="-122"/>
                <a:cs typeface="IBM Plex Sans" pitchFamily="34" charset="-120"/>
              </a:rPr>
              <a:t>Agrochemical dimerizers such as mandipropamid give a low-toxicity, non-rapamycin switch — useful when a project already uses FKBP–FRB elsewhere (Yu et al. 2021).</a:t>
            </a:r>
            <a:endParaRPr lang="en-US" sz="1000" dirty="0"/>
          </a:p>
        </p:txBody>
      </p:sp>
      <p:sp>
        <p:nvSpPr>
          <p:cNvPr id="20" name="Text 14"/>
          <p:cNvSpPr/>
          <p:nvPr/>
        </p:nvSpPr>
        <p:spPr>
          <a:xfrm>
            <a:off x="812800" y="6238280"/>
            <a:ext cx="7603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Speed vs. control: light is fastest to reverse, degrons are the most surgical, chemistry is the easiest to deploy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Genome Engineering — Problem &amp; Method</dc:title>
  <dc:subject>PptxGenJS Presentation</dc:subject>
  <dc:creator>PptxGenJS</dc:creator>
  <cp:lastModifiedBy>PptxGenJS</cp:lastModifiedBy>
  <cp:revision>1</cp:revision>
  <dcterms:created xsi:type="dcterms:W3CDTF">2026-09-23T22:34:54Z</dcterms:created>
  <dcterms:modified xsi:type="dcterms:W3CDTF">2026-09-23T22:34:54Z</dcterms:modified>
</cp:coreProperties>
</file>